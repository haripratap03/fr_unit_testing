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6" r:id="rId16"/>
    <p:sldId id="259" r:id="rId5"/>
    <p:sldId id="260" r:id="rId6"/>
    <p:sldId id="261" r:id="rId7"/>
    <p:sldId id="262" r:id="rId8"/>
    <p:sldId id="263"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262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is a short walkthrough of how I built the unit-testing suite for FR_Thor — our offline face-recognition pipeline — using Claude Code.</a:t>
            </a:r>
          </a:p>
          <a:p>
            <a:r>
              <a:t>The deck is interactive: in slideshow mode (F5), the buttons in the bottom-right of every slide let you move forward, back, or jump home.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Unit testing is the practice of validating one piece of code at a time — a single function — against a clear expected outcome.</a:t>
            </a:r>
          </a:p>
          <a:p>
            <a:r>
              <a:t>Every test answers three questions: what input goes in, what output is expected, and do they match. If the answers don't agree, the test fails and tells you exactly which function and which input broke.</a:t>
            </a:r>
          </a:p>
          <a:p>
            <a:r>
              <a:t>Why do we do it? Four big reasons. We catch bugs early, before they ship to production. We prevent regressions — future changes that accidentally break something get caught fast. The tests also document how the code is supposed to work. And they let us refactor safely, because the tests guard the contract.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I tested is FR_Thor — an offline face-recognition pipeline for pharmacy footfall analysis. It pulls CCTV clips, tracks people across frames, captures faces, and matches them against a staff registry. Everything runs on local hardware — no cloud APIs.</a:t>
            </a:r>
          </a:p>
          <a:p>
            <a:r>
              <a:t>There are three features inside the pipeline I focused on: Face Detection finds faces in each frame, Face Tracking keeps the same person identified over time, and Face Recognition matches a captured face to a known person.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workflow I followed — five steps in order.</a:t>
            </a:r>
          </a:p>
          <a:p>
            <a:r>
              <a:t>Step one: I documented the whole project — one overview of the pipeline.</a:t>
            </a:r>
          </a:p>
          <a:p>
            <a:r>
              <a:t>Step two: I documented each feature separately — a focused write-up for Face Detection, Face Tracking, and Face Recognition.</a:t>
            </a:r>
          </a:p>
          <a:p>
            <a:r>
              <a:t>Step three: with that documentation in hand, I built the test plan — a list of cases, each with a target function and an expected outcome.</a:t>
            </a:r>
          </a:p>
          <a:p>
            <a:r>
              <a:t>Step four: I reviewed the cases before writing any code — checking each was realistic and the expected outcome was correct.</a:t>
            </a:r>
          </a:p>
          <a:p>
            <a:r>
              <a:t>Step five: only then did I ask Claude to turn each reviewed case into a runnable Python script.</a:t>
            </a:r>
          </a:p>
          <a:p>
            <a:r>
              <a:t>The order matters. Documentation comes first so Claude starts with the same context the team has.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an important point. Every test runs on real CCTV footage, with the real models. No fake images, no mocked-out functions.</a:t>
            </a:r>
          </a:p>
          <a:p>
            <a:r>
              <a:t>Why does that matter? Real frames have the same lighting, angles, and occlusions production sees. Real models behave at their real thresholds. So a passing test is real evidence the function works in the field, and a failing test is a real problem rather than a fixture quirk.</a:t>
            </a:r>
          </a:p>
          <a:p>
            <a:r>
              <a:t>All the test data and outputs live under one folder — Unit_Test_Data. The master runner sits at the top, the reports folder collects the JSON and Excel outputs, and each feature has its own scripts and data subfolders.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 each suite actually checks.</a:t>
            </a:r>
          </a:p>
          <a:p>
            <a:r>
              <a:t>Face Detection has 44 tests. Does YOLO find faces at the configured confidence. Does each crop pass the quality score — blur, size, brightness. Does the skin filter accept skin and reject non-skin. Do the landmarks confirm the crop is a real frontal face.</a:t>
            </a:r>
          </a:p>
          <a:p>
            <a:r>
              <a:t>Face Tracking has 61 tests. Does the same person keep the same track ID across frames. Are brief detections held in pending state until the warm-up threshold is met. Do two people walking close together stay as separate tracks. Do tracks survive across consecutive clips.</a:t>
            </a:r>
          </a:p>
          <a:p>
            <a:r>
              <a:t>Face Recognition has 25 tests. Is the embedding produced and normalised correctly. Do registered staff match the right name. Do unknown faces go to the customer pool. Do similar customers cluster together.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Running the suite is one command. From the project root, run python Unit_Test_Data slash run_all_and_report.py. There are flags to run a single feature too — fd-only, fr-only, or ft-only.</a:t>
            </a:r>
          </a:p>
          <a:p>
            <a:r>
              <a:t>As soon as the run finishes, two outputs appear in the reports folder. A timestamped JSON state file with the machine-readable verdict for every test, and a timestamped Excel report formatted for stakeholders. No separate reporting step.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And here's the result.</a:t>
            </a:r>
          </a:p>
          <a:p>
            <a:r>
              <a:t>Forty-four out of forty-four pass on Face Detection. Twenty-five out of twenty-five on Face Recognition. Sixty-one out of sixty-one on Face Tracking.</a:t>
            </a:r>
          </a:p>
          <a:p>
            <a:r>
              <a:t>All three suites are green on the latest run. That's 130 tests in total — every one of them running on real footage with the real models, producing a real verdict.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Happy to take questions.</a:t>
            </a:r>
          </a:p>
          <a:p>
            <a:r>
              <a:t>The four buttons here open the actual folders and the CLAUDE.md file directly. Or click Back to Start to return to the title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1.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1.xml"/><Relationship Id="rId5"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1.xml"/><Relationship Id="rId5"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slide" Target="slide4.xml"/><Relationship Id="rId4" Type="http://schemas.openxmlformats.org/officeDocument/2006/relationships/slide" Target="slide1.xml"/><Relationship Id="rId5"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slide" Target="slide5.xml"/><Relationship Id="rId4" Type="http://schemas.openxmlformats.org/officeDocument/2006/relationships/slide" Target="slide1.xml"/><Relationship Id="rId5"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file:///D:\1pharmacy\FR%20Analysis\Unit%20Testing\FR_Thor\Unit_Test_Data\reports" TargetMode="External"/><Relationship Id="rId4" Type="http://schemas.openxmlformats.org/officeDocument/2006/relationships/slide" Target="slide6.xml"/><Relationship Id="rId5" Type="http://schemas.openxmlformats.org/officeDocument/2006/relationships/slide" Target="slide1.xml"/><Relationship Id="rId6"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7.xml"/><Relationship Id="rId4" Type="http://schemas.openxmlformats.org/officeDocument/2006/relationships/slide" Target="slide1.xml"/><Relationship Id="rId5"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file:///D:\1pharmacy\FR%20Analysis\Unit%20Testing\FR_Thor\Unit_Test_Data" TargetMode="External"/><Relationship Id="rId4" Type="http://schemas.openxmlformats.org/officeDocument/2006/relationships/hyperlink" Target="file:///D:\1pharmacy\FR%20Analysis\Unit%20Testing\FR_Thor\Unit_Test_Data\reports" TargetMode="External"/><Relationship Id="rId5" Type="http://schemas.openxmlformats.org/officeDocument/2006/relationships/hyperlink" Target="file:///D:\1pharmacy\FR%20Analysis\Unit%20Testing\FR_Thor\documentation" TargetMode="External"/><Relationship Id="rId6" Type="http://schemas.openxmlformats.org/officeDocument/2006/relationships/hyperlink" Target="file:///D:\1pharmacy\FR%20Analysis\Unit%20Testing\FR_Thor\CLAUDE.md" TargetMode="External"/><Relationship Id="rId7" Type="http://schemas.openxmlformats.org/officeDocument/2006/relationships/slide" Target="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47120" cy="1097280"/>
          </a:xfrm>
          <a:prstGeom prst="rect">
            <a:avLst/>
          </a:prstGeom>
          <a:noFill/>
        </p:spPr>
        <p:txBody>
          <a:bodyPr wrap="square" lIns="45720" tIns="18288" rIns="45720" bIns="18288">
            <a:spAutoFit/>
          </a:bodyPr>
          <a:lstStyle/>
          <a:p>
            <a:pPr algn="ctr"/>
            <a:r>
              <a:rPr sz="4800" b="1">
                <a:solidFill>
                  <a:srgbClr val="4FC3F7"/>
                </a:solidFill>
                <a:latin typeface="Segoe UI"/>
              </a:rPr>
              <a:t>Unit Testing the FR Pipeline</a:t>
            </a:r>
          </a:p>
        </p:txBody>
      </p:sp>
      <p:sp>
        <p:nvSpPr>
          <p:cNvPr id="4" name="TextBox 3"/>
          <p:cNvSpPr txBox="1"/>
          <p:nvPr/>
        </p:nvSpPr>
        <p:spPr>
          <a:xfrm>
            <a:off x="457200" y="3474720"/>
            <a:ext cx="11247120" cy="640080"/>
          </a:xfrm>
          <a:prstGeom prst="rect">
            <a:avLst/>
          </a:prstGeom>
          <a:noFill/>
        </p:spPr>
        <p:txBody>
          <a:bodyPr wrap="square" lIns="45720" tIns="18288" rIns="45720" bIns="18288">
            <a:spAutoFit/>
          </a:bodyPr>
          <a:lstStyle/>
          <a:p>
            <a:pPr algn="ctr"/>
            <a:r>
              <a:rPr sz="2200" b="0">
                <a:solidFill>
                  <a:srgbClr val="81D4FA"/>
                </a:solidFill>
                <a:latin typeface="Segoe UI"/>
              </a:rPr>
              <a:t>Built with Claude Code</a:t>
            </a:r>
          </a:p>
        </p:txBody>
      </p:sp>
      <p:sp>
        <p:nvSpPr>
          <p:cNvPr id="5" name="Rectangle 4">
            <a:hlinkClick r:id="rId3" action="ppaction://hlinksldjump"/>
          </p:cNvPr>
          <p:cNvSpPr/>
          <p:nvPr/>
        </p:nvSpPr>
        <p:spPr>
          <a:xfrm>
            <a:off x="5029200" y="4572000"/>
            <a:ext cx="2103120" cy="64008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000" b="1">
                <a:solidFill>
                  <a:srgbClr val="4FC3F7"/>
                </a:solidFill>
                <a:latin typeface="Segoe UI"/>
              </a:rPr>
              <a:t>▶  Start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1247120" cy="822960"/>
          </a:xfrm>
          <a:prstGeom prst="rect">
            <a:avLst/>
          </a:prstGeom>
          <a:noFill/>
        </p:spPr>
        <p:txBody>
          <a:bodyPr wrap="square" lIns="45720" tIns="18288" rIns="45720" bIns="18288">
            <a:spAutoFit/>
          </a:bodyPr>
          <a:lstStyle/>
          <a:p>
            <a:pPr algn="l"/>
            <a:r>
              <a:rPr sz="3600" b="1">
                <a:solidFill>
                  <a:srgbClr val="4FC3F7"/>
                </a:solidFill>
                <a:latin typeface="Segoe UI"/>
              </a:rPr>
              <a:t>What is unit testing — and why?</a:t>
            </a:r>
          </a:p>
        </p:txBody>
      </p:sp>
      <p:sp>
        <p:nvSpPr>
          <p:cNvPr id="4" name="TextBox 3"/>
          <p:cNvSpPr txBox="1"/>
          <p:nvPr/>
        </p:nvSpPr>
        <p:spPr>
          <a:xfrm>
            <a:off x="457200" y="1554480"/>
            <a:ext cx="11247120" cy="548640"/>
          </a:xfrm>
          <a:prstGeom prst="rect">
            <a:avLst/>
          </a:prstGeom>
          <a:noFill/>
        </p:spPr>
        <p:txBody>
          <a:bodyPr wrap="square" lIns="45720" tIns="18288" rIns="45720" bIns="18288">
            <a:spAutoFit/>
          </a:bodyPr>
          <a:lstStyle/>
          <a:p>
            <a:pPr algn="l"/>
            <a:r>
              <a:rPr sz="2000" b="0">
                <a:solidFill>
                  <a:srgbClr val="ECEFF4"/>
                </a:solidFill>
                <a:latin typeface="Segoe UI"/>
              </a:rPr>
              <a:t>Unit testing checks one function at a time, against an expected outcome.</a:t>
            </a:r>
          </a:p>
        </p:txBody>
      </p:sp>
      <p:sp>
        <p:nvSpPr>
          <p:cNvPr id="5" name="TextBox 4"/>
          <p:cNvSpPr txBox="1"/>
          <p:nvPr/>
        </p:nvSpPr>
        <p:spPr>
          <a:xfrm>
            <a:off x="457200" y="2194560"/>
            <a:ext cx="11247120" cy="457200"/>
          </a:xfrm>
          <a:prstGeom prst="rect">
            <a:avLst/>
          </a:prstGeom>
          <a:noFill/>
        </p:spPr>
        <p:txBody>
          <a:bodyPr wrap="square" lIns="45720" tIns="18288" rIns="45720" bIns="18288">
            <a:spAutoFit/>
          </a:bodyPr>
          <a:lstStyle/>
          <a:p>
            <a:pPr algn="l"/>
            <a:r>
              <a:rPr sz="1800" b="1">
                <a:solidFill>
                  <a:srgbClr val="81D4FA"/>
                </a:solidFill>
                <a:latin typeface="Segoe UI"/>
              </a:rPr>
              <a:t>Every test answers three questions</a:t>
            </a:r>
          </a:p>
        </p:txBody>
      </p:sp>
      <p:sp>
        <p:nvSpPr>
          <p:cNvPr id="6" name="TextBox 5"/>
          <p:cNvSpPr txBox="1"/>
          <p:nvPr/>
        </p:nvSpPr>
        <p:spPr>
          <a:xfrm>
            <a:off x="457200" y="2697480"/>
            <a:ext cx="11247120" cy="1463040"/>
          </a:xfrm>
          <a:prstGeom prst="rect">
            <a:avLst/>
          </a:prstGeom>
          <a:noFill/>
        </p:spPr>
        <p:txBody>
          <a:bodyPr wrap="square">
            <a:spAutoFit/>
          </a:bodyPr>
          <a:lstStyle/>
          <a:p>
            <a:pPr algn="l">
              <a:spcAft>
                <a:spcPts val="600"/>
              </a:spcAft>
            </a:pPr>
            <a:r>
              <a:rPr sz="1600">
                <a:solidFill>
                  <a:srgbClr val="ECEFF4"/>
                </a:solidFill>
                <a:latin typeface="Segoe UI"/>
              </a:rPr>
              <a:t>•  What input is given to the function?</a:t>
            </a:r>
          </a:p>
          <a:p>
            <a:pPr algn="l">
              <a:spcAft>
                <a:spcPts val="600"/>
              </a:spcAft>
            </a:pPr>
            <a:r>
              <a:rPr sz="1600">
                <a:solidFill>
                  <a:srgbClr val="ECEFF4"/>
                </a:solidFill>
                <a:latin typeface="Segoe UI"/>
              </a:rPr>
              <a:t>•  What output is expected?</a:t>
            </a:r>
          </a:p>
          <a:p>
            <a:pPr algn="l">
              <a:spcAft>
                <a:spcPts val="600"/>
              </a:spcAft>
            </a:pPr>
            <a:r>
              <a:rPr sz="1600">
                <a:solidFill>
                  <a:srgbClr val="ECEFF4"/>
                </a:solidFill>
                <a:latin typeface="Segoe UI"/>
              </a:rPr>
              <a:t>•  Does the actual output match?</a:t>
            </a:r>
          </a:p>
        </p:txBody>
      </p:sp>
      <p:sp>
        <p:nvSpPr>
          <p:cNvPr id="7" name="TextBox 6"/>
          <p:cNvSpPr txBox="1"/>
          <p:nvPr/>
        </p:nvSpPr>
        <p:spPr>
          <a:xfrm>
            <a:off x="457200" y="4114800"/>
            <a:ext cx="11247120" cy="457200"/>
          </a:xfrm>
          <a:prstGeom prst="rect">
            <a:avLst/>
          </a:prstGeom>
          <a:noFill/>
        </p:spPr>
        <p:txBody>
          <a:bodyPr wrap="square" lIns="45720" tIns="18288" rIns="45720" bIns="18288">
            <a:spAutoFit/>
          </a:bodyPr>
          <a:lstStyle/>
          <a:p>
            <a:pPr algn="l"/>
            <a:r>
              <a:rPr sz="1800" b="1">
                <a:solidFill>
                  <a:srgbClr val="81D4FA"/>
                </a:solidFill>
                <a:latin typeface="Segoe UI"/>
              </a:rPr>
              <a:t>Why do it?</a:t>
            </a:r>
          </a:p>
        </p:txBody>
      </p:sp>
      <p:sp>
        <p:nvSpPr>
          <p:cNvPr id="8" name="Rectangle 7"/>
          <p:cNvSpPr/>
          <p:nvPr/>
        </p:nvSpPr>
        <p:spPr>
          <a:xfrm>
            <a:off x="457200" y="4617720"/>
            <a:ext cx="2697480" cy="1463040"/>
          </a:xfrm>
          <a:prstGeom prst="rect">
            <a:avLst/>
          </a:prstGeom>
          <a:solidFill>
            <a:srgbClr val="1B3A4D"/>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4782312"/>
            <a:ext cx="2331720" cy="457200"/>
          </a:xfrm>
          <a:prstGeom prst="rect">
            <a:avLst/>
          </a:prstGeom>
          <a:noFill/>
        </p:spPr>
        <p:txBody>
          <a:bodyPr wrap="square" lIns="45720" tIns="18288" rIns="45720" bIns="18288">
            <a:spAutoFit/>
          </a:bodyPr>
          <a:lstStyle/>
          <a:p>
            <a:pPr algn="l"/>
            <a:r>
              <a:rPr sz="1400" b="1">
                <a:solidFill>
                  <a:srgbClr val="4FC3F7"/>
                </a:solidFill>
                <a:latin typeface="Segoe UI"/>
              </a:rPr>
              <a:t>Catch bugs early</a:t>
            </a:r>
          </a:p>
        </p:txBody>
      </p:sp>
      <p:sp>
        <p:nvSpPr>
          <p:cNvPr id="10" name="TextBox 9"/>
          <p:cNvSpPr txBox="1"/>
          <p:nvPr/>
        </p:nvSpPr>
        <p:spPr>
          <a:xfrm>
            <a:off x="640080" y="5257800"/>
            <a:ext cx="2331720" cy="685800"/>
          </a:xfrm>
          <a:prstGeom prst="rect">
            <a:avLst/>
          </a:prstGeom>
          <a:noFill/>
        </p:spPr>
        <p:txBody>
          <a:bodyPr wrap="square" lIns="45720" tIns="18288" rIns="45720" bIns="18288">
            <a:spAutoFit/>
          </a:bodyPr>
          <a:lstStyle/>
          <a:p>
            <a:pPr algn="l"/>
            <a:r>
              <a:rPr sz="1200" b="0">
                <a:solidFill>
                  <a:srgbClr val="ECEFF4"/>
                </a:solidFill>
                <a:latin typeface="Segoe UI"/>
              </a:rPr>
              <a:t>before they ship</a:t>
            </a:r>
          </a:p>
        </p:txBody>
      </p:sp>
      <p:sp>
        <p:nvSpPr>
          <p:cNvPr id="11" name="Rectangle 10"/>
          <p:cNvSpPr/>
          <p:nvPr/>
        </p:nvSpPr>
        <p:spPr>
          <a:xfrm>
            <a:off x="3291840" y="4617720"/>
            <a:ext cx="2697480" cy="1463040"/>
          </a:xfrm>
          <a:prstGeom prst="rect">
            <a:avLst/>
          </a:prstGeom>
          <a:solidFill>
            <a:srgbClr val="1B3A4D"/>
          </a:solidFill>
          <a:ln w="19050">
            <a:solidFill>
              <a:srgbClr val="81C7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4782312"/>
            <a:ext cx="2331720" cy="457200"/>
          </a:xfrm>
          <a:prstGeom prst="rect">
            <a:avLst/>
          </a:prstGeom>
          <a:noFill/>
        </p:spPr>
        <p:txBody>
          <a:bodyPr wrap="square" lIns="45720" tIns="18288" rIns="45720" bIns="18288">
            <a:spAutoFit/>
          </a:bodyPr>
          <a:lstStyle/>
          <a:p>
            <a:pPr algn="l"/>
            <a:r>
              <a:rPr sz="1400" b="1">
                <a:solidFill>
                  <a:srgbClr val="81C784"/>
                </a:solidFill>
                <a:latin typeface="Segoe UI"/>
              </a:rPr>
              <a:t>Prevent regressions</a:t>
            </a:r>
          </a:p>
        </p:txBody>
      </p:sp>
      <p:sp>
        <p:nvSpPr>
          <p:cNvPr id="13" name="TextBox 12"/>
          <p:cNvSpPr txBox="1"/>
          <p:nvPr/>
        </p:nvSpPr>
        <p:spPr>
          <a:xfrm>
            <a:off x="3474720" y="5257800"/>
            <a:ext cx="2331720" cy="685800"/>
          </a:xfrm>
          <a:prstGeom prst="rect">
            <a:avLst/>
          </a:prstGeom>
          <a:noFill/>
        </p:spPr>
        <p:txBody>
          <a:bodyPr wrap="square" lIns="45720" tIns="18288" rIns="45720" bIns="18288">
            <a:spAutoFit/>
          </a:bodyPr>
          <a:lstStyle/>
          <a:p>
            <a:pPr algn="l"/>
            <a:r>
              <a:rPr sz="1200" b="0">
                <a:solidFill>
                  <a:srgbClr val="ECEFF4"/>
                </a:solidFill>
                <a:latin typeface="Segoe UI"/>
              </a:rPr>
              <a:t>future breaks get caught fast</a:t>
            </a:r>
          </a:p>
        </p:txBody>
      </p:sp>
      <p:sp>
        <p:nvSpPr>
          <p:cNvPr id="14" name="Rectangle 13"/>
          <p:cNvSpPr/>
          <p:nvPr/>
        </p:nvSpPr>
        <p:spPr>
          <a:xfrm>
            <a:off x="6126480" y="4617720"/>
            <a:ext cx="2697480" cy="1463040"/>
          </a:xfrm>
          <a:prstGeom prst="rect">
            <a:avLst/>
          </a:prstGeom>
          <a:solidFill>
            <a:srgbClr val="1B3A4D"/>
          </a:solidFill>
          <a:ln w="19050">
            <a:solidFill>
              <a:srgbClr val="CE93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0" y="4782312"/>
            <a:ext cx="2331720" cy="457200"/>
          </a:xfrm>
          <a:prstGeom prst="rect">
            <a:avLst/>
          </a:prstGeom>
          <a:noFill/>
        </p:spPr>
        <p:txBody>
          <a:bodyPr wrap="square" lIns="45720" tIns="18288" rIns="45720" bIns="18288">
            <a:spAutoFit/>
          </a:bodyPr>
          <a:lstStyle/>
          <a:p>
            <a:pPr algn="l"/>
            <a:r>
              <a:rPr sz="1400" b="1">
                <a:solidFill>
                  <a:srgbClr val="CE93D8"/>
                </a:solidFill>
                <a:latin typeface="Segoe UI"/>
              </a:rPr>
              <a:t>Document behaviour</a:t>
            </a:r>
          </a:p>
        </p:txBody>
      </p:sp>
      <p:sp>
        <p:nvSpPr>
          <p:cNvPr id="16" name="TextBox 15"/>
          <p:cNvSpPr txBox="1"/>
          <p:nvPr/>
        </p:nvSpPr>
        <p:spPr>
          <a:xfrm>
            <a:off x="6309360" y="5257800"/>
            <a:ext cx="2331720" cy="685800"/>
          </a:xfrm>
          <a:prstGeom prst="rect">
            <a:avLst/>
          </a:prstGeom>
          <a:noFill/>
        </p:spPr>
        <p:txBody>
          <a:bodyPr wrap="square" lIns="45720" tIns="18288" rIns="45720" bIns="18288">
            <a:spAutoFit/>
          </a:bodyPr>
          <a:lstStyle/>
          <a:p>
            <a:pPr algn="l"/>
            <a:r>
              <a:rPr sz="1200" b="0">
                <a:solidFill>
                  <a:srgbClr val="ECEFF4"/>
                </a:solidFill>
                <a:latin typeface="Segoe UI"/>
              </a:rPr>
              <a:t>tests show how code should work</a:t>
            </a:r>
          </a:p>
        </p:txBody>
      </p:sp>
      <p:sp>
        <p:nvSpPr>
          <p:cNvPr id="17" name="Rectangle 16"/>
          <p:cNvSpPr/>
          <p:nvPr/>
        </p:nvSpPr>
        <p:spPr>
          <a:xfrm>
            <a:off x="8961120" y="4617720"/>
            <a:ext cx="2697480" cy="1463040"/>
          </a:xfrm>
          <a:prstGeom prst="rect">
            <a:avLst/>
          </a:prstGeom>
          <a:solidFill>
            <a:srgbClr val="1B3A4D"/>
          </a:solidFill>
          <a:ln w="19050">
            <a:solidFill>
              <a:srgbClr val="FFB7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0" y="4782312"/>
            <a:ext cx="2331720" cy="457200"/>
          </a:xfrm>
          <a:prstGeom prst="rect">
            <a:avLst/>
          </a:prstGeom>
          <a:noFill/>
        </p:spPr>
        <p:txBody>
          <a:bodyPr wrap="square" lIns="45720" tIns="18288" rIns="45720" bIns="18288">
            <a:spAutoFit/>
          </a:bodyPr>
          <a:lstStyle/>
          <a:p>
            <a:pPr algn="l"/>
            <a:r>
              <a:rPr sz="1400" b="1">
                <a:solidFill>
                  <a:srgbClr val="FFB74D"/>
                </a:solidFill>
                <a:latin typeface="Segoe UI"/>
              </a:rPr>
              <a:t>Refactor safely</a:t>
            </a:r>
          </a:p>
        </p:txBody>
      </p:sp>
      <p:sp>
        <p:nvSpPr>
          <p:cNvPr id="19" name="TextBox 18"/>
          <p:cNvSpPr txBox="1"/>
          <p:nvPr/>
        </p:nvSpPr>
        <p:spPr>
          <a:xfrm>
            <a:off x="9144000" y="5257800"/>
            <a:ext cx="2331720" cy="685800"/>
          </a:xfrm>
          <a:prstGeom prst="rect">
            <a:avLst/>
          </a:prstGeom>
          <a:noFill/>
        </p:spPr>
        <p:txBody>
          <a:bodyPr wrap="square" lIns="45720" tIns="18288" rIns="45720" bIns="18288">
            <a:spAutoFit/>
          </a:bodyPr>
          <a:lstStyle/>
          <a:p>
            <a:pPr algn="l"/>
            <a:r>
              <a:rPr sz="1200" b="0">
                <a:solidFill>
                  <a:srgbClr val="ECEFF4"/>
                </a:solidFill>
                <a:latin typeface="Segoe UI"/>
              </a:rPr>
              <a:t>tests guard the contract</a:t>
            </a:r>
          </a:p>
        </p:txBody>
      </p:sp>
      <p:sp>
        <p:nvSpPr>
          <p:cNvPr id="20" name="Rectangle 19">
            <a:hlinkClick r:id="rId3" action="ppaction://hlinksldjump"/>
          </p:cNvPr>
          <p:cNvSpPr/>
          <p:nvPr/>
        </p:nvSpPr>
        <p:spPr>
          <a:xfrm>
            <a:off x="8534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  Prev</a:t>
            </a:r>
          </a:p>
        </p:txBody>
      </p:sp>
      <p:sp>
        <p:nvSpPr>
          <p:cNvPr id="21" name="Rectangle 20">
            <a:hlinkClick r:id="rId3" action="ppaction://hlinksldjump"/>
          </p:cNvPr>
          <p:cNvSpPr/>
          <p:nvPr/>
        </p:nvSpPr>
        <p:spPr>
          <a:xfrm>
            <a:off x="9677095" y="6400800"/>
            <a:ext cx="1005840" cy="365760"/>
          </a:xfrm>
          <a:prstGeom prst="rect">
            <a:avLst/>
          </a:prstGeom>
          <a:solidFill>
            <a:srgbClr val="222A36"/>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D54F"/>
                </a:solidFill>
                <a:latin typeface="Segoe UI"/>
              </a:rPr>
              <a:t>⌂  Home</a:t>
            </a:r>
          </a:p>
        </p:txBody>
      </p:sp>
      <p:sp>
        <p:nvSpPr>
          <p:cNvPr id="22" name="Rectangle 21">
            <a:hlinkClick r:id="rId4" action="ppaction://hlinksldjump"/>
          </p:cNvPr>
          <p:cNvSpPr/>
          <p:nvPr/>
        </p:nvSpPr>
        <p:spPr>
          <a:xfrm>
            <a:off x="10820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Next  ▶</a:t>
            </a:r>
          </a:p>
        </p:txBody>
      </p:sp>
      <p:sp>
        <p:nvSpPr>
          <p:cNvPr id="23" name="TextBox 22"/>
          <p:cNvSpPr txBox="1"/>
          <p:nvPr/>
        </p:nvSpPr>
        <p:spPr>
          <a:xfrm>
            <a:off x="457200" y="6446520"/>
            <a:ext cx="1828800" cy="274320"/>
          </a:xfrm>
          <a:prstGeom prst="rect">
            <a:avLst/>
          </a:prstGeom>
          <a:noFill/>
        </p:spPr>
        <p:txBody>
          <a:bodyPr wrap="square" lIns="45720" tIns="18288" rIns="45720" bIns="18288">
            <a:spAutoFit/>
          </a:bodyPr>
          <a:lstStyle/>
          <a:p>
            <a:pPr algn="l"/>
            <a:r>
              <a:rPr sz="1100" b="0">
                <a:solidFill>
                  <a:srgbClr val="90A4AE"/>
                </a:solidFill>
                <a:latin typeface="Segoe UI"/>
              </a:rP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175" y="0"/>
            <a:ext cx="12191695"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457200" y="457200"/>
            <a:ext cx="11247120" cy="822960"/>
          </a:xfrm>
          <a:prstGeom prst="rect">
            <a:avLst/>
          </a:prstGeom>
          <a:noFill/>
        </p:spPr>
        <p:txBody>
          <a:bodyPr wrap="square" lIns="45720" tIns="18288" rIns="45720" bIns="18288">
            <a:spAutoFit/>
          </a:bodyPr>
          <a:lstStyle/>
          <a:p>
            <a:pPr algn="l"/>
            <a:r>
              <a:rPr sz="3600" b="1">
                <a:solidFill>
                  <a:srgbClr val="4FC3F7"/>
                </a:solidFill>
                <a:latin typeface="Segoe UI"/>
              </a:rPr>
              <a:t>About the project — FR_Thor</a:t>
            </a:r>
          </a:p>
        </p:txBody>
      </p:sp>
      <p:sp>
        <p:nvSpPr>
          <p:cNvPr id="5" name="TextBox 4"/>
          <p:cNvSpPr txBox="1"/>
          <p:nvPr/>
        </p:nvSpPr>
        <p:spPr>
          <a:xfrm>
            <a:off x="344272" y="1664208"/>
            <a:ext cx="11247120" cy="457200"/>
          </a:xfrm>
          <a:prstGeom prst="rect">
            <a:avLst/>
          </a:prstGeom>
          <a:noFill/>
        </p:spPr>
        <p:txBody>
          <a:bodyPr wrap="square" lIns="45720" tIns="18288" rIns="45720" bIns="18288">
            <a:spAutoFit/>
          </a:bodyPr>
          <a:lstStyle/>
          <a:p>
            <a:pPr algn="l"/>
            <a:r>
              <a:rPr sz="2000" b="1">
                <a:solidFill>
                  <a:srgbClr val="81D4FA"/>
                </a:solidFill>
                <a:latin typeface="Segoe UI"/>
              </a:rPr>
              <a:t>Three features were tested</a:t>
            </a:r>
          </a:p>
        </p:txBody>
      </p:sp>
      <p:sp>
        <p:nvSpPr>
          <p:cNvPr id="6" name="Rectangle 5"/>
          <p:cNvSpPr/>
          <p:nvPr/>
        </p:nvSpPr>
        <p:spPr>
          <a:xfrm>
            <a:off x="344272" y="2258568"/>
            <a:ext cx="3657600" cy="1371600"/>
          </a:xfrm>
          <a:prstGeom prst="rect">
            <a:avLst/>
          </a:prstGeom>
          <a:solidFill>
            <a:srgbClr val="1B3A4D"/>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27152" y="2423160"/>
            <a:ext cx="3291840" cy="457200"/>
          </a:xfrm>
          <a:prstGeom prst="rect">
            <a:avLst/>
          </a:prstGeom>
          <a:noFill/>
        </p:spPr>
        <p:txBody>
          <a:bodyPr wrap="square" lIns="45720" tIns="18288" rIns="45720" bIns="18288">
            <a:spAutoFit/>
          </a:bodyPr>
          <a:lstStyle/>
          <a:p>
            <a:pPr algn="l"/>
            <a:r>
              <a:rPr sz="1800" b="1">
                <a:solidFill>
                  <a:srgbClr val="4FC3F7"/>
                </a:solidFill>
                <a:latin typeface="Segoe UI"/>
              </a:rPr>
              <a:t>Face Detection</a:t>
            </a:r>
          </a:p>
        </p:txBody>
      </p:sp>
      <p:sp>
        <p:nvSpPr>
          <p:cNvPr id="8" name="TextBox 7"/>
          <p:cNvSpPr txBox="1"/>
          <p:nvPr/>
        </p:nvSpPr>
        <p:spPr>
          <a:xfrm>
            <a:off x="527152" y="2898648"/>
            <a:ext cx="3291840" cy="594360"/>
          </a:xfrm>
          <a:prstGeom prst="rect">
            <a:avLst/>
          </a:prstGeom>
          <a:noFill/>
        </p:spPr>
        <p:txBody>
          <a:bodyPr wrap="square" lIns="45720" tIns="18288" rIns="45720" bIns="18288">
            <a:spAutoFit/>
          </a:bodyPr>
          <a:lstStyle/>
          <a:p>
            <a:pPr algn="l"/>
            <a:r>
              <a:rPr sz="1400" b="0">
                <a:solidFill>
                  <a:srgbClr val="ECEFF4"/>
                </a:solidFill>
                <a:latin typeface="Segoe UI"/>
              </a:rPr>
              <a:t>Find faces in a frame</a:t>
            </a:r>
          </a:p>
        </p:txBody>
      </p:sp>
      <p:sp>
        <p:nvSpPr>
          <p:cNvPr id="9" name="Rectangle 8"/>
          <p:cNvSpPr/>
          <p:nvPr/>
        </p:nvSpPr>
        <p:spPr>
          <a:xfrm>
            <a:off x="4166464" y="2258568"/>
            <a:ext cx="3657600" cy="1371600"/>
          </a:xfrm>
          <a:prstGeom prst="rect">
            <a:avLst/>
          </a:prstGeom>
          <a:solidFill>
            <a:srgbClr val="1B3A4D"/>
          </a:solidFill>
          <a:ln w="19050">
            <a:solidFill>
              <a:srgbClr val="81C7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49344" y="2423160"/>
            <a:ext cx="3291840" cy="457200"/>
          </a:xfrm>
          <a:prstGeom prst="rect">
            <a:avLst/>
          </a:prstGeom>
          <a:noFill/>
        </p:spPr>
        <p:txBody>
          <a:bodyPr wrap="square" lIns="45720" tIns="18288" rIns="45720" bIns="18288">
            <a:spAutoFit/>
          </a:bodyPr>
          <a:lstStyle/>
          <a:p>
            <a:pPr algn="l"/>
            <a:r>
              <a:rPr sz="1800" b="1">
                <a:solidFill>
                  <a:srgbClr val="81C784"/>
                </a:solidFill>
                <a:latin typeface="Segoe UI"/>
              </a:rPr>
              <a:t>Face Tracking</a:t>
            </a:r>
          </a:p>
        </p:txBody>
      </p:sp>
      <p:sp>
        <p:nvSpPr>
          <p:cNvPr id="11" name="TextBox 10"/>
          <p:cNvSpPr txBox="1"/>
          <p:nvPr/>
        </p:nvSpPr>
        <p:spPr>
          <a:xfrm>
            <a:off x="4349344" y="2898648"/>
            <a:ext cx="3291840" cy="594360"/>
          </a:xfrm>
          <a:prstGeom prst="rect">
            <a:avLst/>
          </a:prstGeom>
          <a:noFill/>
        </p:spPr>
        <p:txBody>
          <a:bodyPr wrap="square" lIns="45720" tIns="18288" rIns="45720" bIns="18288">
            <a:spAutoFit/>
          </a:bodyPr>
          <a:lstStyle/>
          <a:p>
            <a:pPr algn="l"/>
            <a:r>
              <a:rPr sz="1400" b="0">
                <a:solidFill>
                  <a:srgbClr val="ECEFF4"/>
                </a:solidFill>
                <a:latin typeface="Segoe UI"/>
              </a:rPr>
              <a:t>Keep the same person identified over time</a:t>
            </a:r>
          </a:p>
        </p:txBody>
      </p:sp>
      <p:sp>
        <p:nvSpPr>
          <p:cNvPr id="12" name="Rectangle 11"/>
          <p:cNvSpPr/>
          <p:nvPr/>
        </p:nvSpPr>
        <p:spPr>
          <a:xfrm>
            <a:off x="7988656" y="2258568"/>
            <a:ext cx="3657600" cy="1371600"/>
          </a:xfrm>
          <a:prstGeom prst="rect">
            <a:avLst/>
          </a:prstGeom>
          <a:solidFill>
            <a:srgbClr val="1B3A4D"/>
          </a:solidFill>
          <a:ln w="19050">
            <a:solidFill>
              <a:srgbClr val="CE93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71536" y="2423160"/>
            <a:ext cx="3291840" cy="457200"/>
          </a:xfrm>
          <a:prstGeom prst="rect">
            <a:avLst/>
          </a:prstGeom>
          <a:noFill/>
        </p:spPr>
        <p:txBody>
          <a:bodyPr wrap="square" lIns="45720" tIns="18288" rIns="45720" bIns="18288">
            <a:spAutoFit/>
          </a:bodyPr>
          <a:lstStyle/>
          <a:p>
            <a:pPr algn="l"/>
            <a:r>
              <a:rPr sz="1800" b="1">
                <a:solidFill>
                  <a:srgbClr val="CE93D8"/>
                </a:solidFill>
                <a:latin typeface="Segoe UI"/>
              </a:rPr>
              <a:t>Face Recognition</a:t>
            </a:r>
          </a:p>
        </p:txBody>
      </p:sp>
      <p:sp>
        <p:nvSpPr>
          <p:cNvPr id="14" name="TextBox 13"/>
          <p:cNvSpPr txBox="1"/>
          <p:nvPr/>
        </p:nvSpPr>
        <p:spPr>
          <a:xfrm>
            <a:off x="8171536" y="2898648"/>
            <a:ext cx="3291840" cy="594360"/>
          </a:xfrm>
          <a:prstGeom prst="rect">
            <a:avLst/>
          </a:prstGeom>
          <a:noFill/>
        </p:spPr>
        <p:txBody>
          <a:bodyPr wrap="square" lIns="45720" tIns="18288" rIns="45720" bIns="18288">
            <a:spAutoFit/>
          </a:bodyPr>
          <a:lstStyle/>
          <a:p>
            <a:pPr algn="l"/>
            <a:r>
              <a:rPr sz="1400" b="0">
                <a:solidFill>
                  <a:srgbClr val="ECEFF4"/>
                </a:solidFill>
                <a:latin typeface="Segoe UI"/>
              </a:rPr>
              <a:t>Match a captured face to a known person</a:t>
            </a:r>
          </a:p>
        </p:txBody>
      </p:sp>
      <p:sp>
        <p:nvSpPr>
          <p:cNvPr id="15" name="Rectangle 14">
            <a:hlinkClick r:id="rId3" action="ppaction://hlinksldjump"/>
          </p:cNvPr>
          <p:cNvSpPr/>
          <p:nvPr/>
        </p:nvSpPr>
        <p:spPr>
          <a:xfrm>
            <a:off x="8534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  Prev</a:t>
            </a:r>
          </a:p>
        </p:txBody>
      </p:sp>
      <p:sp>
        <p:nvSpPr>
          <p:cNvPr id="16" name="Rectangle 15">
            <a:hlinkClick r:id="rId4" action="ppaction://hlinksldjump"/>
          </p:cNvPr>
          <p:cNvSpPr/>
          <p:nvPr/>
        </p:nvSpPr>
        <p:spPr>
          <a:xfrm>
            <a:off x="9677095" y="6400800"/>
            <a:ext cx="1005840" cy="365760"/>
          </a:xfrm>
          <a:prstGeom prst="rect">
            <a:avLst/>
          </a:prstGeom>
          <a:solidFill>
            <a:srgbClr val="222A36"/>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D54F"/>
                </a:solidFill>
                <a:latin typeface="Segoe UI"/>
              </a:rPr>
              <a:t>⌂  Home</a:t>
            </a:r>
          </a:p>
        </p:txBody>
      </p:sp>
      <p:sp>
        <p:nvSpPr>
          <p:cNvPr id="17" name="Rectangle 16">
            <a:hlinkClick r:id="rId5" action="ppaction://hlinksldjump"/>
          </p:cNvPr>
          <p:cNvSpPr/>
          <p:nvPr/>
        </p:nvSpPr>
        <p:spPr>
          <a:xfrm>
            <a:off x="10820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Next  ▶</a:t>
            </a:r>
          </a:p>
        </p:txBody>
      </p:sp>
      <p:sp>
        <p:nvSpPr>
          <p:cNvPr id="18" name="TextBox 17"/>
          <p:cNvSpPr txBox="1"/>
          <p:nvPr/>
        </p:nvSpPr>
        <p:spPr>
          <a:xfrm>
            <a:off x="457200" y="6446520"/>
            <a:ext cx="1828800" cy="274320"/>
          </a:xfrm>
          <a:prstGeom prst="rect">
            <a:avLst/>
          </a:prstGeom>
          <a:noFill/>
        </p:spPr>
        <p:txBody>
          <a:bodyPr wrap="square" lIns="45720" tIns="18288" rIns="45720" bIns="18288">
            <a:spAutoFit/>
          </a:bodyPr>
          <a:lstStyle/>
          <a:p>
            <a:pPr algn="l"/>
            <a:r>
              <a:rPr sz="1100" b="0">
                <a:solidFill>
                  <a:srgbClr val="90A4AE"/>
                </a:solidFill>
                <a:latin typeface="Segoe UI"/>
              </a:rP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1247120" cy="822960"/>
          </a:xfrm>
          <a:prstGeom prst="rect">
            <a:avLst/>
          </a:prstGeom>
          <a:noFill/>
        </p:spPr>
        <p:txBody>
          <a:bodyPr wrap="square" lIns="45720" tIns="18288" rIns="45720" bIns="18288">
            <a:spAutoFit/>
          </a:bodyPr>
          <a:lstStyle/>
          <a:p>
            <a:pPr algn="l"/>
            <a:r>
              <a:rPr sz="3600" b="1">
                <a:solidFill>
                  <a:srgbClr val="4FC3F7"/>
                </a:solidFill>
                <a:latin typeface="Segoe UI"/>
              </a:rPr>
              <a:t>How I built the test suite — five steps</a:t>
            </a:r>
          </a:p>
        </p:txBody>
      </p:sp>
      <p:sp>
        <p:nvSpPr>
          <p:cNvPr id="4" name="Rectangle 3"/>
          <p:cNvSpPr/>
          <p:nvPr/>
        </p:nvSpPr>
        <p:spPr>
          <a:xfrm>
            <a:off x="457200" y="1828800"/>
            <a:ext cx="3703320" cy="1463040"/>
          </a:xfrm>
          <a:prstGeom prst="rect">
            <a:avLst/>
          </a:prstGeom>
          <a:solidFill>
            <a:srgbClr val="1B3A4D"/>
          </a:solidFill>
          <a:ln w="19050">
            <a:solidFill>
              <a:srgbClr val="FFB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20240"/>
            <a:ext cx="640080" cy="640080"/>
          </a:xfrm>
          <a:prstGeom prst="rect">
            <a:avLst/>
          </a:prstGeom>
          <a:noFill/>
        </p:spPr>
        <p:txBody>
          <a:bodyPr wrap="square" lIns="45720" tIns="18288" rIns="45720" bIns="18288">
            <a:spAutoFit/>
          </a:bodyPr>
          <a:lstStyle/>
          <a:p>
            <a:pPr algn="l"/>
            <a:r>
              <a:rPr sz="3000" b="1">
                <a:solidFill>
                  <a:srgbClr val="FFB74D"/>
                </a:solidFill>
                <a:latin typeface="Segoe UI"/>
              </a:rPr>
              <a:t>1</a:t>
            </a:r>
          </a:p>
        </p:txBody>
      </p:sp>
      <p:sp>
        <p:nvSpPr>
          <p:cNvPr id="6" name="TextBox 5"/>
          <p:cNvSpPr txBox="1"/>
          <p:nvPr/>
        </p:nvSpPr>
        <p:spPr>
          <a:xfrm>
            <a:off x="1325880" y="1993392"/>
            <a:ext cx="2697480" cy="457200"/>
          </a:xfrm>
          <a:prstGeom prst="rect">
            <a:avLst/>
          </a:prstGeom>
          <a:noFill/>
        </p:spPr>
        <p:txBody>
          <a:bodyPr wrap="square" lIns="45720" tIns="18288" rIns="45720" bIns="18288">
            <a:spAutoFit/>
          </a:bodyPr>
          <a:lstStyle/>
          <a:p>
            <a:pPr algn="l"/>
            <a:r>
              <a:rPr sz="1400" b="1">
                <a:solidFill>
                  <a:srgbClr val="ECEFF4"/>
                </a:solidFill>
                <a:latin typeface="Segoe UI"/>
              </a:rPr>
              <a:t>Document the project</a:t>
            </a:r>
          </a:p>
        </p:txBody>
      </p:sp>
      <p:sp>
        <p:nvSpPr>
          <p:cNvPr id="7" name="TextBox 6"/>
          <p:cNvSpPr txBox="1"/>
          <p:nvPr/>
        </p:nvSpPr>
        <p:spPr>
          <a:xfrm>
            <a:off x="1325880" y="2468880"/>
            <a:ext cx="2697480" cy="685800"/>
          </a:xfrm>
          <a:prstGeom prst="rect">
            <a:avLst/>
          </a:prstGeom>
          <a:noFill/>
        </p:spPr>
        <p:txBody>
          <a:bodyPr wrap="square" lIns="45720" tIns="18288" rIns="45720" bIns="18288">
            <a:spAutoFit/>
          </a:bodyPr>
          <a:lstStyle/>
          <a:p>
            <a:pPr algn="l"/>
            <a:r>
              <a:rPr sz="1100" b="0">
                <a:solidFill>
                  <a:srgbClr val="81D4FA"/>
                </a:solidFill>
                <a:latin typeface="Segoe UI"/>
              </a:rPr>
              <a:t>One overview of the whole pipeline.</a:t>
            </a:r>
          </a:p>
        </p:txBody>
      </p:sp>
      <p:sp>
        <p:nvSpPr>
          <p:cNvPr id="8" name="Rectangle 7"/>
          <p:cNvSpPr/>
          <p:nvPr/>
        </p:nvSpPr>
        <p:spPr>
          <a:xfrm>
            <a:off x="4279392" y="1828800"/>
            <a:ext cx="3703320" cy="1463040"/>
          </a:xfrm>
          <a:prstGeom prst="rect">
            <a:avLst/>
          </a:prstGeom>
          <a:solidFill>
            <a:srgbClr val="1B3A4D"/>
          </a:solidFill>
          <a:ln w="19050">
            <a:solidFill>
              <a:srgbClr val="FFB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62272" y="1920240"/>
            <a:ext cx="640080" cy="640080"/>
          </a:xfrm>
          <a:prstGeom prst="rect">
            <a:avLst/>
          </a:prstGeom>
          <a:noFill/>
        </p:spPr>
        <p:txBody>
          <a:bodyPr wrap="square" lIns="45720" tIns="18288" rIns="45720" bIns="18288">
            <a:spAutoFit/>
          </a:bodyPr>
          <a:lstStyle/>
          <a:p>
            <a:pPr algn="l"/>
            <a:r>
              <a:rPr sz="3000" b="1">
                <a:solidFill>
                  <a:srgbClr val="FFB74D"/>
                </a:solidFill>
                <a:latin typeface="Segoe UI"/>
              </a:rPr>
              <a:t>2</a:t>
            </a:r>
          </a:p>
        </p:txBody>
      </p:sp>
      <p:sp>
        <p:nvSpPr>
          <p:cNvPr id="10" name="TextBox 9"/>
          <p:cNvSpPr txBox="1"/>
          <p:nvPr/>
        </p:nvSpPr>
        <p:spPr>
          <a:xfrm>
            <a:off x="5148072" y="1993392"/>
            <a:ext cx="2697480" cy="457200"/>
          </a:xfrm>
          <a:prstGeom prst="rect">
            <a:avLst/>
          </a:prstGeom>
          <a:noFill/>
        </p:spPr>
        <p:txBody>
          <a:bodyPr wrap="square" lIns="45720" tIns="18288" rIns="45720" bIns="18288">
            <a:spAutoFit/>
          </a:bodyPr>
          <a:lstStyle/>
          <a:p>
            <a:pPr algn="l"/>
            <a:r>
              <a:rPr sz="1400" b="1">
                <a:solidFill>
                  <a:srgbClr val="ECEFF4"/>
                </a:solidFill>
                <a:latin typeface="Segoe UI"/>
              </a:rPr>
              <a:t>Document each feature</a:t>
            </a:r>
          </a:p>
        </p:txBody>
      </p:sp>
      <p:sp>
        <p:nvSpPr>
          <p:cNvPr id="11" name="TextBox 10"/>
          <p:cNvSpPr txBox="1"/>
          <p:nvPr/>
        </p:nvSpPr>
        <p:spPr>
          <a:xfrm>
            <a:off x="5148072" y="2468880"/>
            <a:ext cx="2697480" cy="685800"/>
          </a:xfrm>
          <a:prstGeom prst="rect">
            <a:avLst/>
          </a:prstGeom>
          <a:noFill/>
        </p:spPr>
        <p:txBody>
          <a:bodyPr wrap="square" lIns="45720" tIns="18288" rIns="45720" bIns="18288">
            <a:spAutoFit/>
          </a:bodyPr>
          <a:lstStyle/>
          <a:p>
            <a:pPr algn="l"/>
            <a:r>
              <a:rPr sz="1100" b="0">
                <a:solidFill>
                  <a:srgbClr val="81D4FA"/>
                </a:solidFill>
                <a:latin typeface="Segoe UI"/>
              </a:rPr>
              <a:t>A separate write-up for FD, FT, FR.</a:t>
            </a:r>
          </a:p>
        </p:txBody>
      </p:sp>
      <p:sp>
        <p:nvSpPr>
          <p:cNvPr id="12" name="Rectangle 11"/>
          <p:cNvSpPr/>
          <p:nvPr/>
        </p:nvSpPr>
        <p:spPr>
          <a:xfrm>
            <a:off x="8101584" y="1828800"/>
            <a:ext cx="3703320" cy="1463040"/>
          </a:xfrm>
          <a:prstGeom prst="rect">
            <a:avLst/>
          </a:prstGeom>
          <a:solidFill>
            <a:srgbClr val="1B3A4D"/>
          </a:solidFill>
          <a:ln w="19050">
            <a:solidFill>
              <a:srgbClr val="FFB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84464" y="1920240"/>
            <a:ext cx="640080" cy="640080"/>
          </a:xfrm>
          <a:prstGeom prst="rect">
            <a:avLst/>
          </a:prstGeom>
          <a:noFill/>
        </p:spPr>
        <p:txBody>
          <a:bodyPr wrap="square" lIns="45720" tIns="18288" rIns="45720" bIns="18288">
            <a:spAutoFit/>
          </a:bodyPr>
          <a:lstStyle/>
          <a:p>
            <a:pPr algn="l"/>
            <a:r>
              <a:rPr sz="3000" b="1">
                <a:solidFill>
                  <a:srgbClr val="FFB74D"/>
                </a:solidFill>
                <a:latin typeface="Segoe UI"/>
              </a:rPr>
              <a:t>3</a:t>
            </a:r>
          </a:p>
        </p:txBody>
      </p:sp>
      <p:sp>
        <p:nvSpPr>
          <p:cNvPr id="14" name="TextBox 13"/>
          <p:cNvSpPr txBox="1"/>
          <p:nvPr/>
        </p:nvSpPr>
        <p:spPr>
          <a:xfrm>
            <a:off x="8970264" y="1993392"/>
            <a:ext cx="2697480" cy="457200"/>
          </a:xfrm>
          <a:prstGeom prst="rect">
            <a:avLst/>
          </a:prstGeom>
          <a:noFill/>
        </p:spPr>
        <p:txBody>
          <a:bodyPr wrap="square" lIns="45720" tIns="18288" rIns="45720" bIns="18288">
            <a:spAutoFit/>
          </a:bodyPr>
          <a:lstStyle/>
          <a:p>
            <a:pPr algn="l"/>
            <a:r>
              <a:rPr sz="1400" b="1">
                <a:solidFill>
                  <a:srgbClr val="ECEFF4"/>
                </a:solidFill>
                <a:latin typeface="Segoe UI"/>
              </a:rPr>
              <a:t>Build the test plan</a:t>
            </a:r>
          </a:p>
        </p:txBody>
      </p:sp>
      <p:sp>
        <p:nvSpPr>
          <p:cNvPr id="15" name="TextBox 14"/>
          <p:cNvSpPr txBox="1"/>
          <p:nvPr/>
        </p:nvSpPr>
        <p:spPr>
          <a:xfrm>
            <a:off x="8970264" y="2468880"/>
            <a:ext cx="2697480" cy="685800"/>
          </a:xfrm>
          <a:prstGeom prst="rect">
            <a:avLst/>
          </a:prstGeom>
          <a:noFill/>
        </p:spPr>
        <p:txBody>
          <a:bodyPr wrap="square" lIns="45720" tIns="18288" rIns="45720" bIns="18288">
            <a:spAutoFit/>
          </a:bodyPr>
          <a:lstStyle/>
          <a:p>
            <a:pPr algn="l"/>
            <a:r>
              <a:rPr sz="1100" b="0">
                <a:solidFill>
                  <a:srgbClr val="81D4FA"/>
                </a:solidFill>
                <a:latin typeface="Segoe UI"/>
              </a:rPr>
              <a:t>List test cases with target function and expected outcome.</a:t>
            </a:r>
          </a:p>
        </p:txBody>
      </p:sp>
      <p:sp>
        <p:nvSpPr>
          <p:cNvPr id="16" name="Rectangle 15"/>
          <p:cNvSpPr/>
          <p:nvPr/>
        </p:nvSpPr>
        <p:spPr>
          <a:xfrm>
            <a:off x="2377440" y="3520440"/>
            <a:ext cx="3703320" cy="1463040"/>
          </a:xfrm>
          <a:prstGeom prst="rect">
            <a:avLst/>
          </a:prstGeom>
          <a:solidFill>
            <a:srgbClr val="1B3A4D"/>
          </a:solidFill>
          <a:ln w="19050">
            <a:solidFill>
              <a:srgbClr val="FFB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60320" y="3611880"/>
            <a:ext cx="640080" cy="640080"/>
          </a:xfrm>
          <a:prstGeom prst="rect">
            <a:avLst/>
          </a:prstGeom>
          <a:noFill/>
        </p:spPr>
        <p:txBody>
          <a:bodyPr wrap="square" lIns="45720" tIns="18288" rIns="45720" bIns="18288">
            <a:spAutoFit/>
          </a:bodyPr>
          <a:lstStyle/>
          <a:p>
            <a:pPr algn="l"/>
            <a:r>
              <a:rPr sz="3000" b="1">
                <a:solidFill>
                  <a:srgbClr val="FFB74D"/>
                </a:solidFill>
                <a:latin typeface="Segoe UI"/>
              </a:rPr>
              <a:t>4</a:t>
            </a:r>
          </a:p>
        </p:txBody>
      </p:sp>
      <p:sp>
        <p:nvSpPr>
          <p:cNvPr id="18" name="TextBox 17"/>
          <p:cNvSpPr txBox="1"/>
          <p:nvPr/>
        </p:nvSpPr>
        <p:spPr>
          <a:xfrm>
            <a:off x="3246120" y="3685032"/>
            <a:ext cx="2697480" cy="457200"/>
          </a:xfrm>
          <a:prstGeom prst="rect">
            <a:avLst/>
          </a:prstGeom>
          <a:noFill/>
        </p:spPr>
        <p:txBody>
          <a:bodyPr wrap="square" lIns="45720" tIns="18288" rIns="45720" bIns="18288">
            <a:spAutoFit/>
          </a:bodyPr>
          <a:lstStyle/>
          <a:p>
            <a:pPr algn="l"/>
            <a:r>
              <a:rPr sz="1400" b="1">
                <a:solidFill>
                  <a:srgbClr val="ECEFF4"/>
                </a:solidFill>
                <a:latin typeface="Segoe UI"/>
              </a:rPr>
              <a:t>Review the cases</a:t>
            </a:r>
          </a:p>
        </p:txBody>
      </p:sp>
      <p:sp>
        <p:nvSpPr>
          <p:cNvPr id="19" name="TextBox 18"/>
          <p:cNvSpPr txBox="1"/>
          <p:nvPr/>
        </p:nvSpPr>
        <p:spPr>
          <a:xfrm>
            <a:off x="3246120" y="4160520"/>
            <a:ext cx="2697480" cy="685800"/>
          </a:xfrm>
          <a:prstGeom prst="rect">
            <a:avLst/>
          </a:prstGeom>
          <a:noFill/>
        </p:spPr>
        <p:txBody>
          <a:bodyPr wrap="square" lIns="45720" tIns="18288" rIns="45720" bIns="18288">
            <a:spAutoFit/>
          </a:bodyPr>
          <a:lstStyle/>
          <a:p>
            <a:pPr algn="l"/>
            <a:r>
              <a:rPr sz="1100" b="0">
                <a:solidFill>
                  <a:srgbClr val="81D4FA"/>
                </a:solidFill>
                <a:latin typeface="Segoe UI"/>
              </a:rPr>
              <a:t>Check each case is realistic and the oracle is correct.</a:t>
            </a:r>
          </a:p>
        </p:txBody>
      </p:sp>
      <p:sp>
        <p:nvSpPr>
          <p:cNvPr id="20" name="Rectangle 19"/>
          <p:cNvSpPr/>
          <p:nvPr/>
        </p:nvSpPr>
        <p:spPr>
          <a:xfrm>
            <a:off x="6199632" y="3520440"/>
            <a:ext cx="3703320" cy="1463040"/>
          </a:xfrm>
          <a:prstGeom prst="rect">
            <a:avLst/>
          </a:prstGeom>
          <a:solidFill>
            <a:srgbClr val="1B3A4D"/>
          </a:solidFill>
          <a:ln w="19050">
            <a:solidFill>
              <a:srgbClr val="FFB7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82512" y="3611880"/>
            <a:ext cx="640080" cy="640080"/>
          </a:xfrm>
          <a:prstGeom prst="rect">
            <a:avLst/>
          </a:prstGeom>
          <a:noFill/>
        </p:spPr>
        <p:txBody>
          <a:bodyPr wrap="square" lIns="45720" tIns="18288" rIns="45720" bIns="18288">
            <a:spAutoFit/>
          </a:bodyPr>
          <a:lstStyle/>
          <a:p>
            <a:pPr algn="l"/>
            <a:r>
              <a:rPr sz="3000" b="1">
                <a:solidFill>
                  <a:srgbClr val="FFB74D"/>
                </a:solidFill>
                <a:latin typeface="Segoe UI"/>
              </a:rPr>
              <a:t>5</a:t>
            </a:r>
          </a:p>
        </p:txBody>
      </p:sp>
      <p:sp>
        <p:nvSpPr>
          <p:cNvPr id="22" name="TextBox 21"/>
          <p:cNvSpPr txBox="1"/>
          <p:nvPr/>
        </p:nvSpPr>
        <p:spPr>
          <a:xfrm>
            <a:off x="7068312" y="3685032"/>
            <a:ext cx="2697480" cy="457200"/>
          </a:xfrm>
          <a:prstGeom prst="rect">
            <a:avLst/>
          </a:prstGeom>
          <a:noFill/>
        </p:spPr>
        <p:txBody>
          <a:bodyPr wrap="square" lIns="45720" tIns="18288" rIns="45720" bIns="18288">
            <a:spAutoFit/>
          </a:bodyPr>
          <a:lstStyle/>
          <a:p>
            <a:pPr algn="l"/>
            <a:r>
              <a:rPr sz="1400" b="1">
                <a:solidFill>
                  <a:srgbClr val="ECEFF4"/>
                </a:solidFill>
                <a:latin typeface="Segoe UI"/>
              </a:rPr>
              <a:t>Ask Claude for scripts</a:t>
            </a:r>
          </a:p>
        </p:txBody>
      </p:sp>
      <p:sp>
        <p:nvSpPr>
          <p:cNvPr id="23" name="TextBox 22"/>
          <p:cNvSpPr txBox="1"/>
          <p:nvPr/>
        </p:nvSpPr>
        <p:spPr>
          <a:xfrm>
            <a:off x="7068312" y="4160520"/>
            <a:ext cx="2697480" cy="685800"/>
          </a:xfrm>
          <a:prstGeom prst="rect">
            <a:avLst/>
          </a:prstGeom>
          <a:noFill/>
        </p:spPr>
        <p:txBody>
          <a:bodyPr wrap="square" lIns="45720" tIns="18288" rIns="45720" bIns="18288">
            <a:spAutoFit/>
          </a:bodyPr>
          <a:lstStyle/>
          <a:p>
            <a:pPr algn="l"/>
            <a:r>
              <a:rPr sz="1100" b="0">
                <a:solidFill>
                  <a:srgbClr val="81D4FA"/>
                </a:solidFill>
                <a:latin typeface="Segoe UI"/>
              </a:rPr>
              <a:t>Turn each reviewed case into a runnable Python script.</a:t>
            </a:r>
          </a:p>
        </p:txBody>
      </p:sp>
      <p:sp>
        <p:nvSpPr>
          <p:cNvPr id="24" name="TextBox 23"/>
          <p:cNvSpPr txBox="1"/>
          <p:nvPr/>
        </p:nvSpPr>
        <p:spPr>
          <a:xfrm>
            <a:off x="457200" y="5212080"/>
            <a:ext cx="11247120" cy="548640"/>
          </a:xfrm>
          <a:prstGeom prst="rect">
            <a:avLst/>
          </a:prstGeom>
          <a:noFill/>
        </p:spPr>
        <p:txBody>
          <a:bodyPr wrap="square" lIns="45720" tIns="18288" rIns="45720" bIns="18288">
            <a:spAutoFit/>
          </a:bodyPr>
          <a:lstStyle/>
          <a:p>
            <a:pPr algn="ctr"/>
            <a:r>
              <a:rPr sz="1600" b="0">
                <a:solidFill>
                  <a:srgbClr val="FFB74D"/>
                </a:solidFill>
                <a:latin typeface="Segoe UI"/>
              </a:rPr>
              <a:t>Documentation comes first so Claude starts with the same context the team has.</a:t>
            </a:r>
          </a:p>
        </p:txBody>
      </p:sp>
      <p:sp>
        <p:nvSpPr>
          <p:cNvPr id="25" name="Rectangle 24">
            <a:hlinkClick r:id="rId3" action="ppaction://hlinksldjump"/>
          </p:cNvPr>
          <p:cNvSpPr/>
          <p:nvPr/>
        </p:nvSpPr>
        <p:spPr>
          <a:xfrm>
            <a:off x="8534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  Prev</a:t>
            </a:r>
          </a:p>
        </p:txBody>
      </p:sp>
      <p:sp>
        <p:nvSpPr>
          <p:cNvPr id="26" name="Rectangle 25">
            <a:hlinkClick r:id="rId4" action="ppaction://hlinksldjump"/>
          </p:cNvPr>
          <p:cNvSpPr/>
          <p:nvPr/>
        </p:nvSpPr>
        <p:spPr>
          <a:xfrm>
            <a:off x="9677095" y="6400800"/>
            <a:ext cx="1005840" cy="365760"/>
          </a:xfrm>
          <a:prstGeom prst="rect">
            <a:avLst/>
          </a:prstGeom>
          <a:solidFill>
            <a:srgbClr val="222A36"/>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D54F"/>
                </a:solidFill>
                <a:latin typeface="Segoe UI"/>
              </a:rPr>
              <a:t>⌂  Home</a:t>
            </a:r>
          </a:p>
        </p:txBody>
      </p:sp>
      <p:sp>
        <p:nvSpPr>
          <p:cNvPr id="27" name="Rectangle 26">
            <a:hlinkClick r:id="rId5" action="ppaction://hlinksldjump"/>
          </p:cNvPr>
          <p:cNvSpPr/>
          <p:nvPr/>
        </p:nvSpPr>
        <p:spPr>
          <a:xfrm>
            <a:off x="10820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Next  ▶</a:t>
            </a:r>
          </a:p>
        </p:txBody>
      </p:sp>
      <p:sp>
        <p:nvSpPr>
          <p:cNvPr id="28" name="TextBox 27"/>
          <p:cNvSpPr txBox="1"/>
          <p:nvPr/>
        </p:nvSpPr>
        <p:spPr>
          <a:xfrm>
            <a:off x="457200" y="6446520"/>
            <a:ext cx="1828800" cy="274320"/>
          </a:xfrm>
          <a:prstGeom prst="rect">
            <a:avLst/>
          </a:prstGeom>
          <a:noFill/>
        </p:spPr>
        <p:txBody>
          <a:bodyPr wrap="square" lIns="45720" tIns="18288" rIns="45720" bIns="18288">
            <a:spAutoFit/>
          </a:bodyPr>
          <a:lstStyle/>
          <a:p>
            <a:pPr algn="l"/>
            <a:r>
              <a:rPr sz="1100" b="0">
                <a:solidFill>
                  <a:srgbClr val="90A4AE"/>
                </a:solidFill>
                <a:latin typeface="Segoe UI"/>
              </a:rP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1247120" cy="822960"/>
          </a:xfrm>
          <a:prstGeom prst="rect">
            <a:avLst/>
          </a:prstGeom>
          <a:noFill/>
        </p:spPr>
        <p:txBody>
          <a:bodyPr wrap="square" lIns="45720" tIns="18288" rIns="45720" bIns="18288">
            <a:spAutoFit/>
          </a:bodyPr>
          <a:lstStyle/>
          <a:p>
            <a:pPr algn="l"/>
            <a:r>
              <a:rPr sz="3600" b="1">
                <a:solidFill>
                  <a:srgbClr val="4FC3F7"/>
                </a:solidFill>
                <a:latin typeface="Segoe UI"/>
              </a:rPr>
              <a:t>Real footage — and where the data lives</a:t>
            </a:r>
          </a:p>
        </p:txBody>
      </p:sp>
      <p:sp>
        <p:nvSpPr>
          <p:cNvPr id="4" name="TextBox 3"/>
          <p:cNvSpPr txBox="1"/>
          <p:nvPr/>
        </p:nvSpPr>
        <p:spPr>
          <a:xfrm>
            <a:off x="457200" y="1645920"/>
            <a:ext cx="11247120" cy="548640"/>
          </a:xfrm>
          <a:prstGeom prst="rect">
            <a:avLst/>
          </a:prstGeom>
          <a:noFill/>
        </p:spPr>
        <p:txBody>
          <a:bodyPr wrap="square" lIns="45720" tIns="18288" rIns="45720" bIns="18288">
            <a:spAutoFit/>
          </a:bodyPr>
          <a:lstStyle/>
          <a:p>
            <a:pPr algn="l"/>
            <a:r>
              <a:rPr sz="1800" b="0">
                <a:solidFill>
                  <a:srgbClr val="ECEFF4"/>
                </a:solidFill>
                <a:latin typeface="Segoe UI"/>
              </a:rPr>
              <a:t>Tests run on real CCTV recordings, with real models. No fake images, no mocks.</a:t>
            </a:r>
          </a:p>
        </p:txBody>
      </p:sp>
      <p:sp>
        <p:nvSpPr>
          <p:cNvPr id="5" name="TextBox 4"/>
          <p:cNvSpPr txBox="1"/>
          <p:nvPr/>
        </p:nvSpPr>
        <p:spPr>
          <a:xfrm>
            <a:off x="457200" y="2286000"/>
            <a:ext cx="11247120" cy="1645920"/>
          </a:xfrm>
          <a:prstGeom prst="rect">
            <a:avLst/>
          </a:prstGeom>
          <a:noFill/>
        </p:spPr>
        <p:txBody>
          <a:bodyPr wrap="square">
            <a:spAutoFit/>
          </a:bodyPr>
          <a:lstStyle/>
          <a:p>
            <a:pPr algn="l">
              <a:spcAft>
                <a:spcPts val="600"/>
              </a:spcAft>
            </a:pPr>
            <a:r>
              <a:rPr sz="1500">
                <a:solidFill>
                  <a:srgbClr val="ECEFF4"/>
                </a:solidFill>
                <a:latin typeface="Segoe UI"/>
              </a:rPr>
              <a:t>•  Real frames carry the lighting, angles, and occlusions production sees</a:t>
            </a:r>
          </a:p>
          <a:p>
            <a:pPr algn="l">
              <a:spcAft>
                <a:spcPts val="600"/>
              </a:spcAft>
            </a:pPr>
            <a:r>
              <a:rPr sz="1500">
                <a:solidFill>
                  <a:srgbClr val="ECEFF4"/>
                </a:solidFill>
                <a:latin typeface="Segoe UI"/>
              </a:rPr>
              <a:t>•  Real models behave at their real thresholds</a:t>
            </a:r>
          </a:p>
          <a:p>
            <a:pPr algn="l">
              <a:spcAft>
                <a:spcPts val="600"/>
              </a:spcAft>
            </a:pPr>
            <a:r>
              <a:rPr sz="1500">
                <a:solidFill>
                  <a:srgbClr val="ECEFF4"/>
                </a:solidFill>
                <a:latin typeface="Segoe UI"/>
              </a:rPr>
              <a:t>•  A passing test is real evidence — a failure is a real problem</a:t>
            </a:r>
          </a:p>
        </p:txBody>
      </p:sp>
      <p:sp>
        <p:nvSpPr>
          <p:cNvPr id="6" name="TextBox 5"/>
          <p:cNvSpPr txBox="1"/>
          <p:nvPr/>
        </p:nvSpPr>
        <p:spPr>
          <a:xfrm>
            <a:off x="457200" y="4023360"/>
            <a:ext cx="11247120" cy="457200"/>
          </a:xfrm>
          <a:prstGeom prst="rect">
            <a:avLst/>
          </a:prstGeom>
          <a:noFill/>
        </p:spPr>
        <p:txBody>
          <a:bodyPr wrap="square" lIns="45720" tIns="18288" rIns="45720" bIns="18288">
            <a:spAutoFit/>
          </a:bodyPr>
          <a:lstStyle/>
          <a:p>
            <a:pPr algn="l"/>
            <a:r>
              <a:rPr sz="1800" b="1">
                <a:solidFill>
                  <a:srgbClr val="81D4FA"/>
                </a:solidFill>
                <a:latin typeface="Segoe UI"/>
              </a:rPr>
              <a:t>All test data lives under one folder</a:t>
            </a:r>
          </a:p>
        </p:txBody>
      </p:sp>
      <p:sp>
        <p:nvSpPr>
          <p:cNvPr id="7" name="Rectangle 6"/>
          <p:cNvSpPr/>
          <p:nvPr/>
        </p:nvSpPr>
        <p:spPr>
          <a:xfrm>
            <a:off x="457200" y="4526280"/>
            <a:ext cx="11247120" cy="1783080"/>
          </a:xfrm>
          <a:prstGeom prst="rect">
            <a:avLst/>
          </a:prstGeom>
          <a:solidFill>
            <a:srgbClr val="1E242E"/>
          </a:solidFill>
          <a:ln w="6350">
            <a:solidFill>
              <a:srgbClr val="4FC3F7"/>
            </a:solidFill>
          </a:ln>
        </p:spPr>
        <p:style>
          <a:lnRef idx="1">
            <a:schemeClr val="accent1"/>
          </a:lnRef>
          <a:fillRef idx="3">
            <a:schemeClr val="accent1"/>
          </a:fillRef>
          <a:effectRef idx="2">
            <a:schemeClr val="accent1"/>
          </a:effectRef>
          <a:fontRef idx="minor">
            <a:schemeClr val="lt1"/>
          </a:fontRef>
        </p:style>
        <p:txBody>
          <a:bodyPr wrap="none" lIns="137160" tIns="91440" rIns="137160" bIns="91440" rtlCol="0" anchor="ctr"/>
          <a:lstStyle/>
          <a:p>
            <a:pPr algn="l"/>
            <a:r>
              <a:rPr sz="1200">
                <a:solidFill>
                  <a:srgbClr val="ECEFF4"/>
                </a:solidFill>
                <a:latin typeface="Consolas"/>
              </a:rPr>
              <a:t>Unit_Test_Data/</a:t>
            </a:r>
          </a:p>
          <a:p>
            <a:pPr algn="l"/>
            <a:r>
              <a:rPr sz="1200">
                <a:solidFill>
                  <a:srgbClr val="ECEFF4"/>
                </a:solidFill>
                <a:latin typeface="Consolas"/>
              </a:rPr>
              <a:t>├── run_all_and_report.py     # master runner</a:t>
            </a:r>
          </a:p>
          <a:p>
            <a:pPr algn="l"/>
            <a:r>
              <a:rPr sz="1200">
                <a:solidFill>
                  <a:srgbClr val="ECEFF4"/>
                </a:solidFill>
                <a:latin typeface="Consolas"/>
              </a:rPr>
              <a:t>├── reports/                  # JSON + Excel report</a:t>
            </a:r>
          </a:p>
          <a:p>
            <a:pPr algn="l"/>
            <a:r>
              <a:rPr sz="1200">
                <a:solidFill>
                  <a:srgbClr val="ECEFF4"/>
                </a:solidFill>
                <a:latin typeface="Consolas"/>
              </a:rPr>
              <a:t>├── Face_Detection/           # scripts + per-test data</a:t>
            </a:r>
          </a:p>
          <a:p>
            <a:pPr algn="l"/>
            <a:r>
              <a:rPr sz="1200">
                <a:solidFill>
                  <a:srgbClr val="ECEFF4"/>
                </a:solidFill>
                <a:latin typeface="Consolas"/>
              </a:rPr>
              <a:t>├── Face_Tracking/            # scripts + per-test data</a:t>
            </a:r>
          </a:p>
          <a:p>
            <a:pPr algn="l"/>
            <a:r>
              <a:rPr sz="1200">
                <a:solidFill>
                  <a:srgbClr val="ECEFF4"/>
                </a:solidFill>
                <a:latin typeface="Consolas"/>
              </a:rPr>
              <a:t>└── Face_Recognition/         # scripts + per-test data</a:t>
            </a:r>
          </a:p>
        </p:txBody>
      </p:sp>
      <p:sp>
        <p:nvSpPr>
          <p:cNvPr id="8" name="Rectangle 7">
            <a:hlinkClick r:id="rId3" action="ppaction://hlinksldjump"/>
          </p:cNvPr>
          <p:cNvSpPr/>
          <p:nvPr/>
        </p:nvSpPr>
        <p:spPr>
          <a:xfrm>
            <a:off x="8534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  Prev</a:t>
            </a:r>
          </a:p>
        </p:txBody>
      </p:sp>
      <p:sp>
        <p:nvSpPr>
          <p:cNvPr id="9" name="Rectangle 8">
            <a:hlinkClick r:id="rId4" action="ppaction://hlinksldjump"/>
          </p:cNvPr>
          <p:cNvSpPr/>
          <p:nvPr/>
        </p:nvSpPr>
        <p:spPr>
          <a:xfrm>
            <a:off x="9677095" y="6400800"/>
            <a:ext cx="1005840" cy="365760"/>
          </a:xfrm>
          <a:prstGeom prst="rect">
            <a:avLst/>
          </a:prstGeom>
          <a:solidFill>
            <a:srgbClr val="222A36"/>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D54F"/>
                </a:solidFill>
                <a:latin typeface="Segoe UI"/>
              </a:rPr>
              <a:t>⌂  Home</a:t>
            </a:r>
          </a:p>
        </p:txBody>
      </p:sp>
      <p:sp>
        <p:nvSpPr>
          <p:cNvPr id="10" name="Rectangle 9">
            <a:hlinkClick r:id="rId5" action="ppaction://hlinksldjump"/>
          </p:cNvPr>
          <p:cNvSpPr/>
          <p:nvPr/>
        </p:nvSpPr>
        <p:spPr>
          <a:xfrm>
            <a:off x="10820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Next  ▶</a:t>
            </a:r>
          </a:p>
        </p:txBody>
      </p:sp>
      <p:sp>
        <p:nvSpPr>
          <p:cNvPr id="11" name="TextBox 10"/>
          <p:cNvSpPr txBox="1"/>
          <p:nvPr/>
        </p:nvSpPr>
        <p:spPr>
          <a:xfrm>
            <a:off x="457200" y="6446520"/>
            <a:ext cx="1828800" cy="274320"/>
          </a:xfrm>
          <a:prstGeom prst="rect">
            <a:avLst/>
          </a:prstGeom>
          <a:noFill/>
        </p:spPr>
        <p:txBody>
          <a:bodyPr wrap="square" lIns="45720" tIns="18288" rIns="45720" bIns="18288">
            <a:spAutoFit/>
          </a:bodyPr>
          <a:lstStyle/>
          <a:p>
            <a:pPr algn="l"/>
            <a:r>
              <a:rPr sz="1100" b="0">
                <a:solidFill>
                  <a:srgbClr val="90A4AE"/>
                </a:solidFill>
                <a:latin typeface="Segoe UI"/>
              </a:rPr>
              <a:t>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1247120" cy="822960"/>
          </a:xfrm>
          <a:prstGeom prst="rect">
            <a:avLst/>
          </a:prstGeom>
          <a:noFill/>
        </p:spPr>
        <p:txBody>
          <a:bodyPr wrap="square" lIns="45720" tIns="18288" rIns="45720" bIns="18288">
            <a:spAutoFit/>
          </a:bodyPr>
          <a:lstStyle/>
          <a:p>
            <a:pPr algn="l"/>
            <a:r>
              <a:rPr sz="3600" b="1">
                <a:solidFill>
                  <a:srgbClr val="4FC3F7"/>
                </a:solidFill>
                <a:latin typeface="Segoe UI"/>
              </a:rPr>
              <a:t>What each feature suite checks</a:t>
            </a:r>
          </a:p>
        </p:txBody>
      </p:sp>
      <p:sp>
        <p:nvSpPr>
          <p:cNvPr id="4" name="Rectangle 3"/>
          <p:cNvSpPr/>
          <p:nvPr/>
        </p:nvSpPr>
        <p:spPr>
          <a:xfrm>
            <a:off x="457200" y="1828800"/>
            <a:ext cx="3703320" cy="4206240"/>
          </a:xfrm>
          <a:prstGeom prst="rect">
            <a:avLst/>
          </a:prstGeom>
          <a:solidFill>
            <a:srgbClr val="1B3A4D"/>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93392"/>
            <a:ext cx="3337560" cy="457200"/>
          </a:xfrm>
          <a:prstGeom prst="rect">
            <a:avLst/>
          </a:prstGeom>
          <a:noFill/>
        </p:spPr>
        <p:txBody>
          <a:bodyPr wrap="square" lIns="45720" tIns="18288" rIns="45720" bIns="18288">
            <a:spAutoFit/>
          </a:bodyPr>
          <a:lstStyle/>
          <a:p>
            <a:pPr algn="l"/>
            <a:r>
              <a:rPr sz="1500" b="1">
                <a:solidFill>
                  <a:srgbClr val="4FC3F7"/>
                </a:solidFill>
                <a:latin typeface="Segoe UI"/>
              </a:rPr>
              <a:t>Face Detection — 44 tests</a:t>
            </a:r>
          </a:p>
        </p:txBody>
      </p:sp>
      <p:sp>
        <p:nvSpPr>
          <p:cNvPr id="6" name="TextBox 5"/>
          <p:cNvSpPr txBox="1"/>
          <p:nvPr/>
        </p:nvSpPr>
        <p:spPr>
          <a:xfrm>
            <a:off x="640080" y="2468880"/>
            <a:ext cx="3337560" cy="3429000"/>
          </a:xfrm>
          <a:prstGeom prst="rect">
            <a:avLst/>
          </a:prstGeom>
          <a:noFill/>
        </p:spPr>
        <p:txBody>
          <a:bodyPr wrap="square" lIns="45720" tIns="18288" rIns="45720" bIns="18288">
            <a:spAutoFit/>
          </a:bodyPr>
          <a:lstStyle/>
          <a:p>
            <a:pPr algn="l"/>
            <a:r>
              <a:rPr sz="1200" b="0">
                <a:solidFill>
                  <a:srgbClr val="ECEFF4"/>
                </a:solidFill>
                <a:latin typeface="Segoe UI"/>
              </a:rPr>
              <a:t>• YOLO finds faces at the configured confidence</a:t>
            </a:r>
          </a:p>
          <a:p>
            <a:pPr algn="l"/>
            <a:r>
              <a:rPr sz="1200" b="0">
                <a:solidFill>
                  <a:srgbClr val="ECEFF4"/>
                </a:solidFill>
                <a:latin typeface="Segoe UI"/>
              </a:rPr>
              <a:t>• Crops pass the quality score (blur + size + brightness)</a:t>
            </a:r>
          </a:p>
          <a:p>
            <a:pPr algn="l"/>
            <a:r>
              <a:rPr sz="1200" b="0">
                <a:solidFill>
                  <a:srgbClr val="ECEFF4"/>
                </a:solidFill>
                <a:latin typeface="Segoe UI"/>
              </a:rPr>
              <a:t>• Skin filter accepts skin, rejects non-skin</a:t>
            </a:r>
          </a:p>
          <a:p>
            <a:pPr algn="l"/>
            <a:r>
              <a:rPr sz="1200" b="0">
                <a:solidFill>
                  <a:srgbClr val="ECEFF4"/>
                </a:solidFill>
                <a:latin typeface="Segoe UI"/>
              </a:rPr>
              <a:t>• Landmarks confirm the crop is a real, frontal face</a:t>
            </a:r>
          </a:p>
        </p:txBody>
      </p:sp>
      <p:sp>
        <p:nvSpPr>
          <p:cNvPr id="7" name="Rectangle 6"/>
          <p:cNvSpPr/>
          <p:nvPr/>
        </p:nvSpPr>
        <p:spPr>
          <a:xfrm>
            <a:off x="4279392" y="1828800"/>
            <a:ext cx="3703320" cy="4206240"/>
          </a:xfrm>
          <a:prstGeom prst="rect">
            <a:avLst/>
          </a:prstGeom>
          <a:solidFill>
            <a:srgbClr val="1B3A4D"/>
          </a:solidFill>
          <a:ln w="19050">
            <a:solidFill>
              <a:srgbClr val="81C7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62272" y="1993392"/>
            <a:ext cx="3337560" cy="457200"/>
          </a:xfrm>
          <a:prstGeom prst="rect">
            <a:avLst/>
          </a:prstGeom>
          <a:noFill/>
        </p:spPr>
        <p:txBody>
          <a:bodyPr wrap="square" lIns="45720" tIns="18288" rIns="45720" bIns="18288">
            <a:spAutoFit/>
          </a:bodyPr>
          <a:lstStyle/>
          <a:p>
            <a:pPr algn="l"/>
            <a:r>
              <a:rPr sz="1500" b="1">
                <a:solidFill>
                  <a:srgbClr val="81C784"/>
                </a:solidFill>
                <a:latin typeface="Segoe UI"/>
              </a:rPr>
              <a:t>Face Tracking — 61 tests</a:t>
            </a:r>
          </a:p>
        </p:txBody>
      </p:sp>
      <p:sp>
        <p:nvSpPr>
          <p:cNvPr id="9" name="TextBox 8"/>
          <p:cNvSpPr txBox="1"/>
          <p:nvPr/>
        </p:nvSpPr>
        <p:spPr>
          <a:xfrm>
            <a:off x="4462272" y="2468880"/>
            <a:ext cx="3337560" cy="3429000"/>
          </a:xfrm>
          <a:prstGeom prst="rect">
            <a:avLst/>
          </a:prstGeom>
          <a:noFill/>
        </p:spPr>
        <p:txBody>
          <a:bodyPr wrap="square" lIns="45720" tIns="18288" rIns="45720" bIns="18288">
            <a:spAutoFit/>
          </a:bodyPr>
          <a:lstStyle/>
          <a:p>
            <a:pPr algn="l"/>
            <a:r>
              <a:rPr sz="1200" b="0">
                <a:solidFill>
                  <a:srgbClr val="ECEFF4"/>
                </a:solidFill>
                <a:latin typeface="Segoe UI"/>
              </a:rPr>
              <a:t>• Same person keeps the same track ID over time</a:t>
            </a:r>
          </a:p>
          <a:p>
            <a:pPr algn="l"/>
            <a:r>
              <a:rPr sz="1200" b="0">
                <a:solidFill>
                  <a:srgbClr val="ECEFF4"/>
                </a:solidFill>
                <a:latin typeface="Segoe UI"/>
              </a:rPr>
              <a:t>• Brief detections are held in pending until warm-up</a:t>
            </a:r>
          </a:p>
          <a:p>
            <a:pPr algn="l"/>
            <a:r>
              <a:rPr sz="1200" b="0">
                <a:solidFill>
                  <a:srgbClr val="ECEFF4"/>
                </a:solidFill>
                <a:latin typeface="Segoe UI"/>
              </a:rPr>
              <a:t>• Two close people stay as separate tracks</a:t>
            </a:r>
          </a:p>
          <a:p>
            <a:pPr algn="l"/>
            <a:r>
              <a:rPr sz="1200" b="0">
                <a:solidFill>
                  <a:srgbClr val="ECEFF4"/>
                </a:solidFill>
                <a:latin typeface="Segoe UI"/>
              </a:rPr>
              <a:t>• Tracks survive across consecutive clips</a:t>
            </a:r>
          </a:p>
        </p:txBody>
      </p:sp>
      <p:sp>
        <p:nvSpPr>
          <p:cNvPr id="10" name="Rectangle 9"/>
          <p:cNvSpPr/>
          <p:nvPr/>
        </p:nvSpPr>
        <p:spPr>
          <a:xfrm>
            <a:off x="8101584" y="1828800"/>
            <a:ext cx="3703320" cy="4206240"/>
          </a:xfrm>
          <a:prstGeom prst="rect">
            <a:avLst/>
          </a:prstGeom>
          <a:solidFill>
            <a:srgbClr val="1B3A4D"/>
          </a:solidFill>
          <a:ln w="19050">
            <a:solidFill>
              <a:srgbClr val="CE93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84464" y="1993392"/>
            <a:ext cx="3337560" cy="457200"/>
          </a:xfrm>
          <a:prstGeom prst="rect">
            <a:avLst/>
          </a:prstGeom>
          <a:noFill/>
        </p:spPr>
        <p:txBody>
          <a:bodyPr wrap="square" lIns="45720" tIns="18288" rIns="45720" bIns="18288">
            <a:spAutoFit/>
          </a:bodyPr>
          <a:lstStyle/>
          <a:p>
            <a:pPr algn="l"/>
            <a:r>
              <a:rPr sz="1500" b="1">
                <a:solidFill>
                  <a:srgbClr val="CE93D8"/>
                </a:solidFill>
                <a:latin typeface="Segoe UI"/>
              </a:rPr>
              <a:t>Face Recognition — 25 tests</a:t>
            </a:r>
          </a:p>
        </p:txBody>
      </p:sp>
      <p:sp>
        <p:nvSpPr>
          <p:cNvPr id="12" name="TextBox 11"/>
          <p:cNvSpPr txBox="1"/>
          <p:nvPr/>
        </p:nvSpPr>
        <p:spPr>
          <a:xfrm>
            <a:off x="8284464" y="2468880"/>
            <a:ext cx="3337560" cy="3429000"/>
          </a:xfrm>
          <a:prstGeom prst="rect">
            <a:avLst/>
          </a:prstGeom>
          <a:noFill/>
        </p:spPr>
        <p:txBody>
          <a:bodyPr wrap="square" lIns="45720" tIns="18288" rIns="45720" bIns="18288">
            <a:spAutoFit/>
          </a:bodyPr>
          <a:lstStyle/>
          <a:p>
            <a:pPr algn="l"/>
            <a:r>
              <a:rPr sz="1200" b="0">
                <a:solidFill>
                  <a:srgbClr val="ECEFF4"/>
                </a:solidFill>
                <a:latin typeface="Segoe UI"/>
              </a:rPr>
              <a:t>• Embedding is produced and normalised correctly</a:t>
            </a:r>
          </a:p>
          <a:p>
            <a:pPr algn="l"/>
            <a:r>
              <a:rPr sz="1200" b="0">
                <a:solidFill>
                  <a:srgbClr val="ECEFF4"/>
                </a:solidFill>
                <a:latin typeface="Segoe UI"/>
              </a:rPr>
              <a:t>• Registered staff match the right name</a:t>
            </a:r>
          </a:p>
          <a:p>
            <a:pPr algn="l"/>
            <a:r>
              <a:rPr sz="1200" b="0">
                <a:solidFill>
                  <a:srgbClr val="ECEFF4"/>
                </a:solidFill>
                <a:latin typeface="Segoe UI"/>
              </a:rPr>
              <a:t>• Unknown faces go to the customer pool</a:t>
            </a:r>
          </a:p>
          <a:p>
            <a:pPr algn="l"/>
            <a:r>
              <a:rPr sz="1200" b="0">
                <a:solidFill>
                  <a:srgbClr val="ECEFF4"/>
                </a:solidFill>
                <a:latin typeface="Segoe UI"/>
              </a:rPr>
              <a:t>• Similar customers cluster together</a:t>
            </a:r>
          </a:p>
        </p:txBody>
      </p:sp>
      <p:sp>
        <p:nvSpPr>
          <p:cNvPr id="13" name="Rectangle 12">
            <a:hlinkClick r:id="rId3" action="ppaction://hlinksldjump"/>
          </p:cNvPr>
          <p:cNvSpPr/>
          <p:nvPr/>
        </p:nvSpPr>
        <p:spPr>
          <a:xfrm>
            <a:off x="8534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  Prev</a:t>
            </a:r>
          </a:p>
        </p:txBody>
      </p:sp>
      <p:sp>
        <p:nvSpPr>
          <p:cNvPr id="14" name="Rectangle 13">
            <a:hlinkClick r:id="rId4" action="ppaction://hlinksldjump"/>
          </p:cNvPr>
          <p:cNvSpPr/>
          <p:nvPr/>
        </p:nvSpPr>
        <p:spPr>
          <a:xfrm>
            <a:off x="9677095" y="6400800"/>
            <a:ext cx="1005840" cy="365760"/>
          </a:xfrm>
          <a:prstGeom prst="rect">
            <a:avLst/>
          </a:prstGeom>
          <a:solidFill>
            <a:srgbClr val="222A36"/>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D54F"/>
                </a:solidFill>
                <a:latin typeface="Segoe UI"/>
              </a:rPr>
              <a:t>⌂  Home</a:t>
            </a:r>
          </a:p>
        </p:txBody>
      </p:sp>
      <p:sp>
        <p:nvSpPr>
          <p:cNvPr id="15" name="Rectangle 14">
            <a:hlinkClick r:id="rId5" action="ppaction://hlinksldjump"/>
          </p:cNvPr>
          <p:cNvSpPr/>
          <p:nvPr/>
        </p:nvSpPr>
        <p:spPr>
          <a:xfrm>
            <a:off x="10820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Next  ▶</a:t>
            </a:r>
          </a:p>
        </p:txBody>
      </p:sp>
      <p:sp>
        <p:nvSpPr>
          <p:cNvPr id="16" name="TextBox 15"/>
          <p:cNvSpPr txBox="1"/>
          <p:nvPr/>
        </p:nvSpPr>
        <p:spPr>
          <a:xfrm>
            <a:off x="457200" y="6446520"/>
            <a:ext cx="1828800" cy="274320"/>
          </a:xfrm>
          <a:prstGeom prst="rect">
            <a:avLst/>
          </a:prstGeom>
          <a:noFill/>
        </p:spPr>
        <p:txBody>
          <a:bodyPr wrap="square" lIns="45720" tIns="18288" rIns="45720" bIns="18288">
            <a:spAutoFit/>
          </a:bodyPr>
          <a:lstStyle/>
          <a:p>
            <a:pPr algn="l"/>
            <a:r>
              <a:rPr sz="1100" b="0">
                <a:solidFill>
                  <a:srgbClr val="90A4AE"/>
                </a:solidFill>
                <a:latin typeface="Segoe UI"/>
              </a:rPr>
              <a:t>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1247120" cy="822960"/>
          </a:xfrm>
          <a:prstGeom prst="rect">
            <a:avLst/>
          </a:prstGeom>
          <a:noFill/>
        </p:spPr>
        <p:txBody>
          <a:bodyPr wrap="square" lIns="45720" tIns="18288" rIns="45720" bIns="18288">
            <a:spAutoFit/>
          </a:bodyPr>
          <a:lstStyle/>
          <a:p>
            <a:pPr algn="l"/>
            <a:r>
              <a:rPr sz="3600" b="1">
                <a:solidFill>
                  <a:srgbClr val="4FC3F7"/>
                </a:solidFill>
                <a:latin typeface="Segoe UI"/>
              </a:rPr>
              <a:t>Run the suite — get a report automatically</a:t>
            </a:r>
          </a:p>
        </p:txBody>
      </p:sp>
      <p:sp>
        <p:nvSpPr>
          <p:cNvPr id="4" name="TextBox 3"/>
          <p:cNvSpPr txBox="1"/>
          <p:nvPr/>
        </p:nvSpPr>
        <p:spPr>
          <a:xfrm>
            <a:off x="457200" y="1554480"/>
            <a:ext cx="11247120" cy="457200"/>
          </a:xfrm>
          <a:prstGeom prst="rect">
            <a:avLst/>
          </a:prstGeom>
          <a:noFill/>
        </p:spPr>
        <p:txBody>
          <a:bodyPr wrap="square" lIns="45720" tIns="18288" rIns="45720" bIns="18288">
            <a:spAutoFit/>
          </a:bodyPr>
          <a:lstStyle/>
          <a:p>
            <a:pPr algn="l"/>
            <a:r>
              <a:rPr sz="1700" b="0">
                <a:solidFill>
                  <a:srgbClr val="ECEFF4"/>
                </a:solidFill>
                <a:latin typeface="Segoe UI"/>
              </a:rPr>
              <a:t>One command runs everything and writes the report.</a:t>
            </a:r>
          </a:p>
        </p:txBody>
      </p:sp>
      <p:sp>
        <p:nvSpPr>
          <p:cNvPr id="5" name="Rectangle 4"/>
          <p:cNvSpPr/>
          <p:nvPr/>
        </p:nvSpPr>
        <p:spPr>
          <a:xfrm>
            <a:off x="457200" y="2194560"/>
            <a:ext cx="11247120" cy="1645920"/>
          </a:xfrm>
          <a:prstGeom prst="rect">
            <a:avLst/>
          </a:prstGeom>
          <a:solidFill>
            <a:srgbClr val="1E242E"/>
          </a:solidFill>
          <a:ln w="6350">
            <a:solidFill>
              <a:srgbClr val="4FC3F7"/>
            </a:solidFill>
          </a:ln>
        </p:spPr>
        <p:style>
          <a:lnRef idx="1">
            <a:schemeClr val="accent1"/>
          </a:lnRef>
          <a:fillRef idx="3">
            <a:schemeClr val="accent1"/>
          </a:fillRef>
          <a:effectRef idx="2">
            <a:schemeClr val="accent1"/>
          </a:effectRef>
          <a:fontRef idx="minor">
            <a:schemeClr val="lt1"/>
          </a:fontRef>
        </p:style>
        <p:txBody>
          <a:bodyPr wrap="none" lIns="137160" tIns="91440" rIns="137160" bIns="91440" rtlCol="0" anchor="ctr"/>
          <a:lstStyle/>
          <a:p>
            <a:pPr algn="l"/>
            <a:r>
              <a:rPr sz="1300">
                <a:solidFill>
                  <a:srgbClr val="ECEFF4"/>
                </a:solidFill>
                <a:latin typeface="Consolas"/>
              </a:rPr>
              <a:t># from the project root</a:t>
            </a:r>
          </a:p>
          <a:p>
            <a:pPr algn="l"/>
            <a:r>
              <a:rPr sz="1300">
                <a:solidFill>
                  <a:srgbClr val="ECEFF4"/>
                </a:solidFill>
                <a:latin typeface="Consolas"/>
              </a:rPr>
              <a:t>python Unit_Test_Data/run_all_and_report.py</a:t>
            </a:r>
          </a:p>
          <a:p>
            <a:pPr algn="l"/>
            <a:r>
              <a:rPr sz="1300">
                <a:solidFill>
                  <a:srgbClr val="ECEFF4"/>
                </a:solidFill>
                <a:latin typeface="Consolas"/>
              </a:rPr>
              <a:t> </a:t>
            </a:r>
          </a:p>
          <a:p>
            <a:pPr algn="l"/>
            <a:r>
              <a:rPr sz="1300">
                <a:solidFill>
                  <a:srgbClr val="ECEFF4"/>
                </a:solidFill>
                <a:latin typeface="Consolas"/>
              </a:rPr>
              <a:t># only one feature</a:t>
            </a:r>
          </a:p>
          <a:p>
            <a:pPr algn="l"/>
            <a:r>
              <a:rPr sz="1300">
                <a:solidFill>
                  <a:srgbClr val="ECEFF4"/>
                </a:solidFill>
                <a:latin typeface="Consolas"/>
              </a:rPr>
              <a:t>python Unit_Test_Data/run_all_and_report.py --fd-only</a:t>
            </a:r>
          </a:p>
        </p:txBody>
      </p:sp>
      <p:sp>
        <p:nvSpPr>
          <p:cNvPr id="6" name="TextBox 5"/>
          <p:cNvSpPr txBox="1"/>
          <p:nvPr/>
        </p:nvSpPr>
        <p:spPr>
          <a:xfrm>
            <a:off x="457200" y="4114800"/>
            <a:ext cx="11247120" cy="457200"/>
          </a:xfrm>
          <a:prstGeom prst="rect">
            <a:avLst/>
          </a:prstGeom>
          <a:noFill/>
        </p:spPr>
        <p:txBody>
          <a:bodyPr wrap="square" lIns="45720" tIns="18288" rIns="45720" bIns="18288">
            <a:spAutoFit/>
          </a:bodyPr>
          <a:lstStyle/>
          <a:p>
            <a:pPr algn="l"/>
            <a:r>
              <a:rPr sz="1800" b="1">
                <a:solidFill>
                  <a:srgbClr val="81D4FA"/>
                </a:solidFill>
                <a:latin typeface="Segoe UI"/>
              </a:rPr>
              <a:t>Each run produces</a:t>
            </a:r>
          </a:p>
        </p:txBody>
      </p:sp>
      <p:sp>
        <p:nvSpPr>
          <p:cNvPr id="7" name="TextBox 6"/>
          <p:cNvSpPr txBox="1"/>
          <p:nvPr/>
        </p:nvSpPr>
        <p:spPr>
          <a:xfrm>
            <a:off x="457200" y="4617720"/>
            <a:ext cx="11247120" cy="1371600"/>
          </a:xfrm>
          <a:prstGeom prst="rect">
            <a:avLst/>
          </a:prstGeom>
          <a:noFill/>
        </p:spPr>
        <p:txBody>
          <a:bodyPr wrap="square">
            <a:spAutoFit/>
          </a:bodyPr>
          <a:lstStyle/>
          <a:p>
            <a:pPr algn="l">
              <a:spcAft>
                <a:spcPts val="600"/>
              </a:spcAft>
            </a:pPr>
            <a:r>
              <a:rPr sz="1400">
                <a:solidFill>
                  <a:srgbClr val="ECEFF4"/>
                </a:solidFill>
                <a:latin typeface="Segoe UI"/>
              </a:rPr>
              <a:t>•  test_state_&lt;timestamp&gt;.json — machine-readable verdict per test</a:t>
            </a:r>
          </a:p>
          <a:p>
            <a:pPr algn="l">
              <a:spcAft>
                <a:spcPts val="600"/>
              </a:spcAft>
            </a:pPr>
            <a:r>
              <a:rPr sz="1400">
                <a:solidFill>
                  <a:srgbClr val="ECEFF4"/>
                </a:solidFill>
                <a:latin typeface="Segoe UI"/>
              </a:rPr>
              <a:t>•  FR_Thor_VideoTest_Report_&lt;timestamp&gt;.xlsx — Excel report for stakeholders</a:t>
            </a:r>
          </a:p>
        </p:txBody>
      </p:sp>
      <p:sp>
        <p:nvSpPr>
          <p:cNvPr id="8" name="Rectangle 7">
            <a:hlinkClick r:id="rId3"/>
          </p:cNvPr>
          <p:cNvSpPr/>
          <p:nvPr/>
        </p:nvSpPr>
        <p:spPr>
          <a:xfrm>
            <a:off x="7955279" y="1508760"/>
            <a:ext cx="3657600" cy="457200"/>
          </a:xfrm>
          <a:prstGeom prst="rect">
            <a:avLst/>
          </a:prstGeom>
          <a:solidFill>
            <a:srgbClr val="1B3A4D"/>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D54F"/>
                </a:solidFill>
                <a:latin typeface="Segoe UI"/>
              </a:rPr>
              <a:t>📁  Open reports folder</a:t>
            </a:r>
          </a:p>
        </p:txBody>
      </p:sp>
      <p:sp>
        <p:nvSpPr>
          <p:cNvPr id="9" name="Rectangle 8">
            <a:hlinkClick r:id="rId4" action="ppaction://hlinksldjump"/>
          </p:cNvPr>
          <p:cNvSpPr/>
          <p:nvPr/>
        </p:nvSpPr>
        <p:spPr>
          <a:xfrm>
            <a:off x="8534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  Prev</a:t>
            </a:r>
          </a:p>
        </p:txBody>
      </p:sp>
      <p:sp>
        <p:nvSpPr>
          <p:cNvPr id="10" name="Rectangle 9">
            <a:hlinkClick r:id="rId5" action="ppaction://hlinksldjump"/>
          </p:cNvPr>
          <p:cNvSpPr/>
          <p:nvPr/>
        </p:nvSpPr>
        <p:spPr>
          <a:xfrm>
            <a:off x="9677095" y="6400800"/>
            <a:ext cx="1005840" cy="365760"/>
          </a:xfrm>
          <a:prstGeom prst="rect">
            <a:avLst/>
          </a:prstGeom>
          <a:solidFill>
            <a:srgbClr val="222A36"/>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D54F"/>
                </a:solidFill>
                <a:latin typeface="Segoe UI"/>
              </a:rPr>
              <a:t>⌂  Home</a:t>
            </a:r>
          </a:p>
        </p:txBody>
      </p:sp>
      <p:sp>
        <p:nvSpPr>
          <p:cNvPr id="11" name="Rectangle 10">
            <a:hlinkClick r:id="rId6" action="ppaction://hlinksldjump"/>
          </p:cNvPr>
          <p:cNvSpPr/>
          <p:nvPr/>
        </p:nvSpPr>
        <p:spPr>
          <a:xfrm>
            <a:off x="10820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Next  ▶</a:t>
            </a:r>
          </a:p>
        </p:txBody>
      </p:sp>
      <p:sp>
        <p:nvSpPr>
          <p:cNvPr id="12" name="TextBox 11"/>
          <p:cNvSpPr txBox="1"/>
          <p:nvPr/>
        </p:nvSpPr>
        <p:spPr>
          <a:xfrm>
            <a:off x="457200" y="6446520"/>
            <a:ext cx="1828800" cy="274320"/>
          </a:xfrm>
          <a:prstGeom prst="rect">
            <a:avLst/>
          </a:prstGeom>
          <a:noFill/>
        </p:spPr>
        <p:txBody>
          <a:bodyPr wrap="square" lIns="45720" tIns="18288" rIns="45720" bIns="18288">
            <a:spAutoFit/>
          </a:bodyPr>
          <a:lstStyle/>
          <a:p>
            <a:pPr algn="l"/>
            <a:r>
              <a:rPr sz="1100" b="0">
                <a:solidFill>
                  <a:srgbClr val="90A4AE"/>
                </a:solidFill>
                <a:latin typeface="Segoe UI"/>
              </a:rPr>
              <a:t>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1247120" cy="822960"/>
          </a:xfrm>
          <a:prstGeom prst="rect">
            <a:avLst/>
          </a:prstGeom>
          <a:noFill/>
        </p:spPr>
        <p:txBody>
          <a:bodyPr wrap="square" lIns="45720" tIns="18288" rIns="45720" bIns="18288">
            <a:spAutoFit/>
          </a:bodyPr>
          <a:lstStyle/>
          <a:p>
            <a:pPr algn="l"/>
            <a:r>
              <a:rPr sz="3600" b="1">
                <a:solidFill>
                  <a:srgbClr val="4FC3F7"/>
                </a:solidFill>
                <a:latin typeface="Segoe UI"/>
              </a:rPr>
              <a:t>Results</a:t>
            </a:r>
          </a:p>
        </p:txBody>
      </p:sp>
      <p:graphicFrame>
        <p:nvGraphicFramePr>
          <p:cNvPr id="4" name="Table 3"/>
          <p:cNvGraphicFramePr>
            <a:graphicFrameLocks noGrp="1"/>
          </p:cNvGraphicFramePr>
          <p:nvPr/>
        </p:nvGraphicFramePr>
        <p:xfrm>
          <a:off x="914400" y="1828800"/>
          <a:ext cx="10332720" cy="2011680"/>
        </p:xfrm>
        <a:graphic>
          <a:graphicData uri="http://schemas.openxmlformats.org/drawingml/2006/table">
            <a:tbl>
              <a:tblPr firstRow="1" bandRow="1">
                <a:tableStyleId>{5C22544A-7EE6-4342-B048-85BDC9FD1C3A}</a:tableStyleId>
              </a:tblPr>
              <a:tblGrid>
                <a:gridCol w="1722120">
                  <a:extLst>
                    <a:ext uri="{9D8B030D-6E8A-4147-A177-3AD203B41FA5}">
                      <a16:colId xmlns:a16="http://schemas.microsoft.com/office/drawing/2014/main" val="20000"/>
                    </a:ext>
                  </a:extLst>
                </a:gridCol>
                <a:gridCol w="1722120">
                  <a:extLst>
                    <a:ext uri="{9D8B030D-6E8A-4147-A177-3AD203B41FA5}">
                      <a16:colId xmlns:a16="http://schemas.microsoft.com/office/drawing/2014/main" val="20001"/>
                    </a:ext>
                  </a:extLst>
                </a:gridCol>
                <a:gridCol w="1722120">
                  <a:extLst>
                    <a:ext uri="{9D8B030D-6E8A-4147-A177-3AD203B41FA5}">
                      <a16:colId xmlns:a16="http://schemas.microsoft.com/office/drawing/2014/main" val="20002"/>
                    </a:ext>
                  </a:extLst>
                </a:gridCol>
                <a:gridCol w="1722120">
                  <a:extLst>
                    <a:ext uri="{9D8B030D-6E8A-4147-A177-3AD203B41FA5}">
                      <a16:colId xmlns:a16="http://schemas.microsoft.com/office/drawing/2014/main" val="20003"/>
                    </a:ext>
                  </a:extLst>
                </a:gridCol>
                <a:gridCol w="1722120">
                  <a:extLst>
                    <a:ext uri="{9D8B030D-6E8A-4147-A177-3AD203B41FA5}">
                      <a16:colId xmlns:a16="http://schemas.microsoft.com/office/drawing/2014/main" val="20004"/>
                    </a:ext>
                  </a:extLst>
                </a:gridCol>
                <a:gridCol w="1722120">
                  <a:extLst>
                    <a:ext uri="{9D8B030D-6E8A-4147-A177-3AD203B41FA5}">
                      <a16:colId xmlns:a16="http://schemas.microsoft.com/office/drawing/2014/main" val="20005"/>
                    </a:ext>
                  </a:extLst>
                </a:gridCol>
              </a:tblGrid>
              <a:tr h="502920">
                <a:tc>
                  <a:txBody>
                    <a:bodyPr/>
                    <a:lstStyle/>
                    <a:p>
                      <a:r>
                        <a:rPr sz="1500" b="1">
                          <a:solidFill>
                            <a:srgbClr val="4FC3F7"/>
                          </a:solidFill>
                          <a:latin typeface="Segoe UI"/>
                        </a:rPr>
                        <a:t>Feature</a:t>
                      </a:r>
                    </a:p>
                  </a:txBody>
                  <a:tcPr>
                    <a:solidFill>
                      <a:srgbClr val="1B3A4D"/>
                    </a:solidFill>
                  </a:tcPr>
                </a:tc>
                <a:tc>
                  <a:txBody>
                    <a:bodyPr/>
                    <a:lstStyle/>
                    <a:p>
                      <a:r>
                        <a:rPr sz="1500" b="1">
                          <a:solidFill>
                            <a:srgbClr val="4FC3F7"/>
                          </a:solidFill>
                          <a:latin typeface="Segoe UI"/>
                        </a:rPr>
                        <a:t>Total</a:t>
                      </a:r>
                    </a:p>
                  </a:txBody>
                  <a:tcPr>
                    <a:solidFill>
                      <a:srgbClr val="1B3A4D"/>
                    </a:solidFill>
                  </a:tcPr>
                </a:tc>
                <a:tc>
                  <a:txBody>
                    <a:bodyPr/>
                    <a:lstStyle/>
                    <a:p>
                      <a:r>
                        <a:rPr sz="1500" b="1">
                          <a:solidFill>
                            <a:srgbClr val="4FC3F7"/>
                          </a:solidFill>
                          <a:latin typeface="Segoe UI"/>
                        </a:rPr>
                        <a:t>PASS</a:t>
                      </a:r>
                    </a:p>
                  </a:txBody>
                  <a:tcPr>
                    <a:solidFill>
                      <a:srgbClr val="1B3A4D"/>
                    </a:solidFill>
                  </a:tcPr>
                </a:tc>
                <a:tc>
                  <a:txBody>
                    <a:bodyPr/>
                    <a:lstStyle/>
                    <a:p>
                      <a:r>
                        <a:rPr sz="1500" b="1">
                          <a:solidFill>
                            <a:srgbClr val="4FC3F7"/>
                          </a:solidFill>
                          <a:latin typeface="Segoe UI"/>
                        </a:rPr>
                        <a:t>FAIL</a:t>
                      </a:r>
                    </a:p>
                  </a:txBody>
                  <a:tcPr>
                    <a:solidFill>
                      <a:srgbClr val="1B3A4D"/>
                    </a:solidFill>
                  </a:tcPr>
                </a:tc>
                <a:tc>
                  <a:txBody>
                    <a:bodyPr/>
                    <a:lstStyle/>
                    <a:p>
                      <a:r>
                        <a:rPr sz="1500" b="1">
                          <a:solidFill>
                            <a:srgbClr val="4FC3F7"/>
                          </a:solidFill>
                          <a:latin typeface="Segoe UI"/>
                        </a:rPr>
                        <a:t>SKIP</a:t>
                      </a:r>
                    </a:p>
                  </a:txBody>
                  <a:tcPr>
                    <a:solidFill>
                      <a:srgbClr val="1B3A4D"/>
                    </a:solidFill>
                  </a:tcPr>
                </a:tc>
                <a:tc>
                  <a:txBody>
                    <a:bodyPr/>
                    <a:lstStyle/>
                    <a:p>
                      <a:r>
                        <a:rPr sz="1500" b="1">
                          <a:solidFill>
                            <a:srgbClr val="4FC3F7"/>
                          </a:solidFill>
                          <a:latin typeface="Segoe UI"/>
                        </a:rPr>
                        <a:t>ERROR</a:t>
                      </a:r>
                    </a:p>
                  </a:txBody>
                  <a:tcPr>
                    <a:solidFill>
                      <a:srgbClr val="1B3A4D"/>
                    </a:solidFill>
                  </a:tcPr>
                </a:tc>
                <a:extLst>
                  <a:ext uri="{0D108BD9-81ED-4DB2-BD59-A6C34878D82A}">
                    <a16:rowId xmlns:a16="http://schemas.microsoft.com/office/drawing/2014/main" val="10000"/>
                  </a:ext>
                </a:extLst>
              </a:tr>
              <a:tr h="502920">
                <a:tc>
                  <a:txBody>
                    <a:bodyPr/>
                    <a:lstStyle/>
                    <a:p>
                      <a:r>
                        <a:rPr sz="1400">
                          <a:solidFill>
                            <a:srgbClr val="ECEFF4"/>
                          </a:solidFill>
                          <a:latin typeface="Segoe UI"/>
                        </a:rPr>
                        <a:t>Face Detection</a:t>
                      </a:r>
                    </a:p>
                  </a:txBody>
                  <a:tcPr>
                    <a:solidFill>
                      <a:srgbClr val="10141A"/>
                    </a:solidFill>
                  </a:tcPr>
                </a:tc>
                <a:tc>
                  <a:txBody>
                    <a:bodyPr/>
                    <a:lstStyle/>
                    <a:p>
                      <a:r>
                        <a:rPr sz="1400">
                          <a:solidFill>
                            <a:srgbClr val="ECEFF4"/>
                          </a:solidFill>
                          <a:latin typeface="Segoe UI"/>
                        </a:rPr>
                        <a:t>44</a:t>
                      </a:r>
                    </a:p>
                  </a:txBody>
                  <a:tcPr>
                    <a:solidFill>
                      <a:srgbClr val="10141A"/>
                    </a:solidFill>
                  </a:tcPr>
                </a:tc>
                <a:tc>
                  <a:txBody>
                    <a:bodyPr/>
                    <a:lstStyle/>
                    <a:p>
                      <a:r>
                        <a:rPr sz="1400">
                          <a:solidFill>
                            <a:srgbClr val="ECEFF4"/>
                          </a:solidFill>
                          <a:latin typeface="Segoe UI"/>
                        </a:rPr>
                        <a:t>44</a:t>
                      </a:r>
                    </a:p>
                  </a:txBody>
                  <a:tcPr>
                    <a:solidFill>
                      <a:srgbClr val="10141A"/>
                    </a:solidFill>
                  </a:tcPr>
                </a:tc>
                <a:tc>
                  <a:txBody>
                    <a:bodyPr/>
                    <a:lstStyle/>
                    <a:p>
                      <a:r>
                        <a:rPr sz="1400">
                          <a:solidFill>
                            <a:srgbClr val="ECEFF4"/>
                          </a:solidFill>
                          <a:latin typeface="Segoe UI"/>
                        </a:rPr>
                        <a:t>0</a:t>
                      </a:r>
                    </a:p>
                  </a:txBody>
                  <a:tcPr>
                    <a:solidFill>
                      <a:srgbClr val="10141A"/>
                    </a:solidFill>
                  </a:tcPr>
                </a:tc>
                <a:tc>
                  <a:txBody>
                    <a:bodyPr/>
                    <a:lstStyle/>
                    <a:p>
                      <a:r>
                        <a:rPr sz="1400">
                          <a:solidFill>
                            <a:srgbClr val="ECEFF4"/>
                          </a:solidFill>
                          <a:latin typeface="Segoe UI"/>
                        </a:rPr>
                        <a:t>0</a:t>
                      </a:r>
                    </a:p>
                  </a:txBody>
                  <a:tcPr>
                    <a:solidFill>
                      <a:srgbClr val="10141A"/>
                    </a:solidFill>
                  </a:tcPr>
                </a:tc>
                <a:tc>
                  <a:txBody>
                    <a:bodyPr/>
                    <a:lstStyle/>
                    <a:p>
                      <a:r>
                        <a:rPr sz="1400">
                          <a:solidFill>
                            <a:srgbClr val="ECEFF4"/>
                          </a:solidFill>
                          <a:latin typeface="Segoe UI"/>
                        </a:rPr>
                        <a:t>0</a:t>
                      </a:r>
                    </a:p>
                  </a:txBody>
                  <a:tcPr>
                    <a:solidFill>
                      <a:srgbClr val="10141A"/>
                    </a:solidFill>
                  </a:tcPr>
                </a:tc>
                <a:extLst>
                  <a:ext uri="{0D108BD9-81ED-4DB2-BD59-A6C34878D82A}">
                    <a16:rowId xmlns:a16="http://schemas.microsoft.com/office/drawing/2014/main" val="10001"/>
                  </a:ext>
                </a:extLst>
              </a:tr>
              <a:tr h="502920">
                <a:tc>
                  <a:txBody>
                    <a:bodyPr/>
                    <a:lstStyle/>
                    <a:p>
                      <a:r>
                        <a:rPr sz="1400">
                          <a:solidFill>
                            <a:srgbClr val="ECEFF4"/>
                          </a:solidFill>
                          <a:latin typeface="Segoe UI"/>
                        </a:rPr>
                        <a:t>Face Recognition</a:t>
                      </a:r>
                    </a:p>
                  </a:txBody>
                  <a:tcPr>
                    <a:solidFill>
                      <a:srgbClr val="181F29"/>
                    </a:solidFill>
                  </a:tcPr>
                </a:tc>
                <a:tc>
                  <a:txBody>
                    <a:bodyPr/>
                    <a:lstStyle/>
                    <a:p>
                      <a:r>
                        <a:rPr sz="1400">
                          <a:solidFill>
                            <a:srgbClr val="ECEFF4"/>
                          </a:solidFill>
                          <a:latin typeface="Segoe UI"/>
                        </a:rPr>
                        <a:t>25</a:t>
                      </a:r>
                    </a:p>
                  </a:txBody>
                  <a:tcPr>
                    <a:solidFill>
                      <a:srgbClr val="181F29"/>
                    </a:solidFill>
                  </a:tcPr>
                </a:tc>
                <a:tc>
                  <a:txBody>
                    <a:bodyPr/>
                    <a:lstStyle/>
                    <a:p>
                      <a:r>
                        <a:rPr sz="1400">
                          <a:solidFill>
                            <a:srgbClr val="ECEFF4"/>
                          </a:solidFill>
                          <a:latin typeface="Segoe UI"/>
                        </a:rPr>
                        <a:t>25</a:t>
                      </a:r>
                    </a:p>
                  </a:txBody>
                  <a:tcPr>
                    <a:solidFill>
                      <a:srgbClr val="181F29"/>
                    </a:solidFill>
                  </a:tcPr>
                </a:tc>
                <a:tc>
                  <a:txBody>
                    <a:bodyPr/>
                    <a:lstStyle/>
                    <a:p>
                      <a:r>
                        <a:rPr sz="1400">
                          <a:solidFill>
                            <a:srgbClr val="ECEFF4"/>
                          </a:solidFill>
                          <a:latin typeface="Segoe UI"/>
                        </a:rPr>
                        <a:t>0</a:t>
                      </a:r>
                    </a:p>
                  </a:txBody>
                  <a:tcPr>
                    <a:solidFill>
                      <a:srgbClr val="181F29"/>
                    </a:solidFill>
                  </a:tcPr>
                </a:tc>
                <a:tc>
                  <a:txBody>
                    <a:bodyPr/>
                    <a:lstStyle/>
                    <a:p>
                      <a:r>
                        <a:rPr sz="1400">
                          <a:solidFill>
                            <a:srgbClr val="ECEFF4"/>
                          </a:solidFill>
                          <a:latin typeface="Segoe UI"/>
                        </a:rPr>
                        <a:t>0</a:t>
                      </a:r>
                    </a:p>
                  </a:txBody>
                  <a:tcPr>
                    <a:solidFill>
                      <a:srgbClr val="181F29"/>
                    </a:solidFill>
                  </a:tcPr>
                </a:tc>
                <a:tc>
                  <a:txBody>
                    <a:bodyPr/>
                    <a:lstStyle/>
                    <a:p>
                      <a:r>
                        <a:rPr sz="1400">
                          <a:solidFill>
                            <a:srgbClr val="ECEFF4"/>
                          </a:solidFill>
                          <a:latin typeface="Segoe UI"/>
                        </a:rPr>
                        <a:t>0</a:t>
                      </a:r>
                    </a:p>
                  </a:txBody>
                  <a:tcPr>
                    <a:solidFill>
                      <a:srgbClr val="181F29"/>
                    </a:solidFill>
                  </a:tcPr>
                </a:tc>
                <a:extLst>
                  <a:ext uri="{0D108BD9-81ED-4DB2-BD59-A6C34878D82A}">
                    <a16:rowId xmlns:a16="http://schemas.microsoft.com/office/drawing/2014/main" val="10002"/>
                  </a:ext>
                </a:extLst>
              </a:tr>
              <a:tr h="502920">
                <a:tc>
                  <a:txBody>
                    <a:bodyPr/>
                    <a:lstStyle/>
                    <a:p>
                      <a:r>
                        <a:rPr sz="1400">
                          <a:solidFill>
                            <a:srgbClr val="ECEFF4"/>
                          </a:solidFill>
                          <a:latin typeface="Segoe UI"/>
                        </a:rPr>
                        <a:t>Face Tracking</a:t>
                      </a:r>
                    </a:p>
                  </a:txBody>
                  <a:tcPr>
                    <a:solidFill>
                      <a:srgbClr val="10141A"/>
                    </a:solidFill>
                  </a:tcPr>
                </a:tc>
                <a:tc>
                  <a:txBody>
                    <a:bodyPr/>
                    <a:lstStyle/>
                    <a:p>
                      <a:r>
                        <a:rPr sz="1400">
                          <a:solidFill>
                            <a:srgbClr val="ECEFF4"/>
                          </a:solidFill>
                          <a:latin typeface="Segoe UI"/>
                        </a:rPr>
                        <a:t>61</a:t>
                      </a:r>
                    </a:p>
                  </a:txBody>
                  <a:tcPr>
                    <a:solidFill>
                      <a:srgbClr val="10141A"/>
                    </a:solidFill>
                  </a:tcPr>
                </a:tc>
                <a:tc>
                  <a:txBody>
                    <a:bodyPr/>
                    <a:lstStyle/>
                    <a:p>
                      <a:r>
                        <a:rPr sz="1400">
                          <a:solidFill>
                            <a:srgbClr val="ECEFF4"/>
                          </a:solidFill>
                          <a:latin typeface="Segoe UI"/>
                        </a:rPr>
                        <a:t>61</a:t>
                      </a:r>
                    </a:p>
                  </a:txBody>
                  <a:tcPr>
                    <a:solidFill>
                      <a:srgbClr val="10141A"/>
                    </a:solidFill>
                  </a:tcPr>
                </a:tc>
                <a:tc>
                  <a:txBody>
                    <a:bodyPr/>
                    <a:lstStyle/>
                    <a:p>
                      <a:r>
                        <a:rPr sz="1400">
                          <a:solidFill>
                            <a:srgbClr val="ECEFF4"/>
                          </a:solidFill>
                          <a:latin typeface="Segoe UI"/>
                        </a:rPr>
                        <a:t>0</a:t>
                      </a:r>
                    </a:p>
                  </a:txBody>
                  <a:tcPr>
                    <a:solidFill>
                      <a:srgbClr val="10141A"/>
                    </a:solidFill>
                  </a:tcPr>
                </a:tc>
                <a:tc>
                  <a:txBody>
                    <a:bodyPr/>
                    <a:lstStyle/>
                    <a:p>
                      <a:r>
                        <a:rPr sz="1400">
                          <a:solidFill>
                            <a:srgbClr val="ECEFF4"/>
                          </a:solidFill>
                          <a:latin typeface="Segoe UI"/>
                        </a:rPr>
                        <a:t>0</a:t>
                      </a:r>
                    </a:p>
                  </a:txBody>
                  <a:tcPr>
                    <a:solidFill>
                      <a:srgbClr val="10141A"/>
                    </a:solidFill>
                  </a:tcPr>
                </a:tc>
                <a:tc>
                  <a:txBody>
                    <a:bodyPr/>
                    <a:lstStyle/>
                    <a:p>
                      <a:r>
                        <a:rPr sz="1400">
                          <a:solidFill>
                            <a:srgbClr val="ECEFF4"/>
                          </a:solidFill>
                          <a:latin typeface="Segoe UI"/>
                        </a:rPr>
                        <a:t>0</a:t>
                      </a:r>
                    </a:p>
                  </a:txBody>
                  <a:tcPr>
                    <a:solidFill>
                      <a:srgbClr val="10141A"/>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4114800"/>
            <a:ext cx="11247120" cy="640080"/>
          </a:xfrm>
          <a:prstGeom prst="rect">
            <a:avLst/>
          </a:prstGeom>
          <a:noFill/>
        </p:spPr>
        <p:txBody>
          <a:bodyPr wrap="square" lIns="45720" tIns="18288" rIns="45720" bIns="18288">
            <a:spAutoFit/>
          </a:bodyPr>
          <a:lstStyle/>
          <a:p>
            <a:pPr algn="ctr"/>
            <a:r>
              <a:rPr sz="2400" b="1">
                <a:solidFill>
                  <a:srgbClr val="81C784"/>
                </a:solidFill>
                <a:latin typeface="Segoe UI"/>
              </a:rPr>
              <a:t>All three suites green on the latest run.</a:t>
            </a:r>
          </a:p>
        </p:txBody>
      </p:sp>
      <p:sp>
        <p:nvSpPr>
          <p:cNvPr id="6" name="TextBox 5"/>
          <p:cNvSpPr txBox="1"/>
          <p:nvPr/>
        </p:nvSpPr>
        <p:spPr>
          <a:xfrm>
            <a:off x="457200" y="4937760"/>
            <a:ext cx="11247120" cy="548640"/>
          </a:xfrm>
          <a:prstGeom prst="rect">
            <a:avLst/>
          </a:prstGeom>
          <a:noFill/>
        </p:spPr>
        <p:txBody>
          <a:bodyPr wrap="square" lIns="45720" tIns="18288" rIns="45720" bIns="18288">
            <a:spAutoFit/>
          </a:bodyPr>
          <a:lstStyle/>
          <a:p>
            <a:pPr algn="ctr"/>
            <a:r>
              <a:rPr sz="1600" b="0">
                <a:solidFill>
                  <a:srgbClr val="90A4AE"/>
                </a:solidFill>
                <a:latin typeface="Segoe UI"/>
              </a:rPr>
              <a:t>130 tests total. Real footage. Real models. Real verdicts.</a:t>
            </a:r>
          </a:p>
        </p:txBody>
      </p:sp>
      <p:sp>
        <p:nvSpPr>
          <p:cNvPr id="7" name="Rectangle 6">
            <a:hlinkClick r:id="rId3" action="ppaction://hlinksldjump"/>
          </p:cNvPr>
          <p:cNvSpPr/>
          <p:nvPr/>
        </p:nvSpPr>
        <p:spPr>
          <a:xfrm>
            <a:off x="8534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  Prev</a:t>
            </a:r>
          </a:p>
        </p:txBody>
      </p:sp>
      <p:sp>
        <p:nvSpPr>
          <p:cNvPr id="8" name="Rectangle 7">
            <a:hlinkClick r:id="rId4" action="ppaction://hlinksldjump"/>
          </p:cNvPr>
          <p:cNvSpPr/>
          <p:nvPr/>
        </p:nvSpPr>
        <p:spPr>
          <a:xfrm>
            <a:off x="9677095" y="6400800"/>
            <a:ext cx="1005840" cy="365760"/>
          </a:xfrm>
          <a:prstGeom prst="rect">
            <a:avLst/>
          </a:prstGeom>
          <a:solidFill>
            <a:srgbClr val="222A36"/>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D54F"/>
                </a:solidFill>
                <a:latin typeface="Segoe UI"/>
              </a:rPr>
              <a:t>⌂  Home</a:t>
            </a:r>
          </a:p>
        </p:txBody>
      </p:sp>
      <p:sp>
        <p:nvSpPr>
          <p:cNvPr id="9" name="Rectangle 8">
            <a:hlinkClick r:id="rId5" action="ppaction://hlinksldjump"/>
          </p:cNvPr>
          <p:cNvSpPr/>
          <p:nvPr/>
        </p:nvSpPr>
        <p:spPr>
          <a:xfrm>
            <a:off x="10820095" y="6400800"/>
            <a:ext cx="1005840" cy="365760"/>
          </a:xfrm>
          <a:prstGeom prst="rect">
            <a:avLst/>
          </a:prstGeom>
          <a:solidFill>
            <a:srgbClr val="222A36"/>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4FC3F7"/>
                </a:solidFill>
                <a:latin typeface="Segoe UI"/>
              </a:rPr>
              <a:t>Next  ▶</a:t>
            </a:r>
          </a:p>
        </p:txBody>
      </p:sp>
      <p:sp>
        <p:nvSpPr>
          <p:cNvPr id="10" name="TextBox 9"/>
          <p:cNvSpPr txBox="1"/>
          <p:nvPr/>
        </p:nvSpPr>
        <p:spPr>
          <a:xfrm>
            <a:off x="457200" y="6446520"/>
            <a:ext cx="1828800" cy="274320"/>
          </a:xfrm>
          <a:prstGeom prst="rect">
            <a:avLst/>
          </a:prstGeom>
          <a:noFill/>
        </p:spPr>
        <p:txBody>
          <a:bodyPr wrap="square" lIns="45720" tIns="18288" rIns="45720" bIns="18288">
            <a:spAutoFit/>
          </a:bodyPr>
          <a:lstStyle/>
          <a:p>
            <a:pPr algn="l"/>
            <a:r>
              <a:rPr sz="1100" b="0">
                <a:solidFill>
                  <a:srgbClr val="90A4AE"/>
                </a:solidFill>
                <a:latin typeface="Segoe UI"/>
              </a:rPr>
              <a:t>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288"/>
            <a:ext cx="12191695"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0"/>
            <a:ext cx="11247120" cy="1021818"/>
          </a:xfrm>
          <a:prstGeom prst="rect">
            <a:avLst/>
          </a:prstGeom>
          <a:noFill/>
        </p:spPr>
        <p:txBody>
          <a:bodyPr wrap="square" lIns="45720" tIns="18288" rIns="45720" bIns="18288">
            <a:spAutoFit/>
          </a:bodyPr>
          <a:lstStyle/>
          <a:p>
            <a:pPr algn="ctr"/>
            <a:endParaRPr sz="6400" b="1" dirty="0">
              <a:solidFill>
                <a:srgbClr val="4FC3F7"/>
              </a:solidFill>
              <a:latin typeface="Segoe UI"/>
            </a:endParaRPr>
          </a:p>
        </p:txBody>
      </p:sp>
      <p:sp>
        <p:nvSpPr>
          <p:cNvPr id="4" name="Rectangle 3">
            <a:hlinkClick r:id="rId3"/>
          </p:cNvPr>
          <p:cNvSpPr/>
          <p:nvPr/>
        </p:nvSpPr>
        <p:spPr>
          <a:xfrm>
            <a:off x="586587" y="4114800"/>
            <a:ext cx="2651760" cy="640080"/>
          </a:xfrm>
          <a:prstGeom prst="rect">
            <a:avLst/>
          </a:prstGeom>
          <a:solidFill>
            <a:srgbClr val="1B3A4D"/>
          </a:solidFill>
          <a:ln w="19050">
            <a:solidFill>
              <a:srgbClr val="4FC3F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4FC3F7"/>
                </a:solidFill>
                <a:latin typeface="Segoe UI"/>
              </a:rPr>
              <a:t>📁  Test scripts</a:t>
            </a:r>
          </a:p>
        </p:txBody>
      </p:sp>
      <p:sp>
        <p:nvSpPr>
          <p:cNvPr id="5" name="Rectangle 4">
            <a:hlinkClick r:id="rId4"/>
          </p:cNvPr>
          <p:cNvSpPr/>
          <p:nvPr/>
        </p:nvSpPr>
        <p:spPr>
          <a:xfrm>
            <a:off x="3375507" y="4114800"/>
            <a:ext cx="2651760" cy="640080"/>
          </a:xfrm>
          <a:prstGeom prst="rect">
            <a:avLst/>
          </a:prstGeom>
          <a:solidFill>
            <a:srgbClr val="1B3A4D"/>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D54F"/>
                </a:solidFill>
                <a:latin typeface="Segoe UI"/>
              </a:rPr>
              <a:t>📁  Reports</a:t>
            </a:r>
          </a:p>
        </p:txBody>
      </p:sp>
      <p:sp>
        <p:nvSpPr>
          <p:cNvPr id="6" name="Rectangle 5">
            <a:hlinkClick r:id="rId5"/>
          </p:cNvPr>
          <p:cNvSpPr/>
          <p:nvPr/>
        </p:nvSpPr>
        <p:spPr>
          <a:xfrm>
            <a:off x="6164427" y="4114800"/>
            <a:ext cx="2651760" cy="640080"/>
          </a:xfrm>
          <a:prstGeom prst="rect">
            <a:avLst/>
          </a:prstGeom>
          <a:solidFill>
            <a:srgbClr val="1B3A4D"/>
          </a:solidFill>
          <a:ln w="19050">
            <a:solidFill>
              <a:srgbClr val="CE93D8"/>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CE93D8"/>
                </a:solidFill>
                <a:latin typeface="Segoe UI"/>
              </a:rPr>
              <a:t>📁  Documentation</a:t>
            </a:r>
          </a:p>
        </p:txBody>
      </p:sp>
      <p:sp>
        <p:nvSpPr>
          <p:cNvPr id="7" name="Rectangle 6">
            <a:hlinkClick r:id="rId6"/>
          </p:cNvPr>
          <p:cNvSpPr/>
          <p:nvPr/>
        </p:nvSpPr>
        <p:spPr>
          <a:xfrm>
            <a:off x="8953347" y="4114800"/>
            <a:ext cx="2651760" cy="640080"/>
          </a:xfrm>
          <a:prstGeom prst="rect">
            <a:avLst/>
          </a:prstGeom>
          <a:solidFill>
            <a:srgbClr val="1B3A4D"/>
          </a:solidFill>
          <a:ln w="19050">
            <a:solidFill>
              <a:srgbClr val="81C78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81C784"/>
                </a:solidFill>
                <a:latin typeface="Segoe UI"/>
              </a:rPr>
              <a:t>📄  CLAUDE.md</a:t>
            </a:r>
          </a:p>
        </p:txBody>
      </p:sp>
      <p:sp>
        <p:nvSpPr>
          <p:cNvPr id="8" name="Rectangle 7">
            <a:hlinkClick r:id="rId7" action="ppaction://hlinksldjump"/>
          </p:cNvPr>
          <p:cNvSpPr/>
          <p:nvPr/>
        </p:nvSpPr>
        <p:spPr>
          <a:xfrm>
            <a:off x="5029200" y="5212080"/>
            <a:ext cx="2103120" cy="548640"/>
          </a:xfrm>
          <a:prstGeom prst="rect">
            <a:avLst/>
          </a:prstGeom>
          <a:solidFill>
            <a:srgbClr val="222A36"/>
          </a:solidFill>
          <a:ln w="19050">
            <a:solidFill>
              <a:srgbClr val="FFD54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FD54F"/>
                </a:solidFill>
                <a:latin typeface="Segoe UI"/>
              </a:rPr>
              <a:t>⌂  Back to Start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27432" y="0"/>
            <a:ext cx="12188952" cy="6858000"/>
          </a:xfrm>
          <a:prstGeom prst="rect">
            <a:avLst/>
          </a:prstGeom>
          <a:solidFill>
            <a:srgbClr val="101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457200"/>
            <a:ext cx="11247120" cy="822960"/>
          </a:xfrm>
          <a:prstGeom prst="rect">
            <a:avLst/>
          </a:prstGeom>
          <a:noFill/>
        </p:spPr>
        <p:txBody>
          <a:bodyPr wrap="square" anchor="t" lIns="45720" rIns="45720" tIns="0" bIns="0">
            <a:spAutoFit/>
          </a:bodyPr>
          <a:lstStyle/>
          <a:p>
            <a:pPr algn="l"/>
            <a:r>
              <a:rPr sz="3600" b="1">
                <a:solidFill>
                  <a:srgbClr val="4FC3F7"/>
                </a:solidFill>
              </a:rPr>
              <a:t>How the pipeline works</a:t>
            </a:r>
          </a:p>
        </p:txBody>
      </p:sp>
      <p:sp>
        <p:nvSpPr>
          <p:cNvPr id="4" name="TextBox 3"/>
          <p:cNvSpPr txBox="1"/>
          <p:nvPr/>
        </p:nvSpPr>
        <p:spPr>
          <a:xfrm>
            <a:off x="457200" y="1280160"/>
            <a:ext cx="11247120" cy="457200"/>
          </a:xfrm>
          <a:prstGeom prst="rect">
            <a:avLst/>
          </a:prstGeom>
          <a:noFill/>
        </p:spPr>
        <p:txBody>
          <a:bodyPr wrap="square" anchor="t" lIns="45720" rIns="45720" tIns="0" bIns="0">
            <a:spAutoFit/>
          </a:bodyPr>
          <a:lstStyle/>
          <a:p>
            <a:pPr algn="l"/>
            <a:r>
              <a:rPr sz="1800" b="1">
                <a:solidFill>
                  <a:srgbClr val="81D4FA"/>
                </a:solidFill>
              </a:rPr>
              <a:t>Four phases per day, fully offline, one Excel report at the end</a:t>
            </a:r>
          </a:p>
        </p:txBody>
      </p:sp>
      <p:sp>
        <p:nvSpPr>
          <p:cNvPr id="5" name="Rectangle 4"/>
          <p:cNvSpPr/>
          <p:nvPr/>
        </p:nvSpPr>
        <p:spPr>
          <a:xfrm>
            <a:off x="457200" y="2011680"/>
            <a:ext cx="11247120" cy="502920"/>
          </a:xfrm>
          <a:prstGeom prst="rect">
            <a:avLst/>
          </a:prstGeom>
          <a:solidFill>
            <a:srgbClr val="1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57200" y="2011680"/>
            <a:ext cx="11247120" cy="502920"/>
          </a:xfrm>
          <a:prstGeom prst="rect">
            <a:avLst/>
          </a:prstGeom>
          <a:noFill/>
        </p:spPr>
        <p:txBody>
          <a:bodyPr wrap="square" anchor="ctr" lIns="45720" rIns="45720" tIns="0" bIns="0">
            <a:spAutoFit/>
          </a:bodyPr>
          <a:lstStyle/>
          <a:p>
            <a:pPr algn="ctr"/>
            <a:r>
              <a:rPr sz="1200" b="1">
                <a:solidFill>
                  <a:srgbClr val="ECEFF4"/>
                </a:solidFill>
              </a:rPr>
              <a:t>INPUT   ·   CCTV clips pulled from the recording Jetson over SSH/SCP into data/&lt;date&gt;/videos/</a:t>
            </a:r>
          </a:p>
        </p:txBody>
      </p:sp>
      <p:sp>
        <p:nvSpPr>
          <p:cNvPr id="7" name="Rectangle 6"/>
          <p:cNvSpPr/>
          <p:nvPr/>
        </p:nvSpPr>
        <p:spPr>
          <a:xfrm>
            <a:off x="457200" y="2788920"/>
            <a:ext cx="2606040" cy="2331720"/>
          </a:xfrm>
          <a:prstGeom prst="rect">
            <a:avLst/>
          </a:prstGeom>
          <a:solidFill>
            <a:srgbClr val="1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57200" y="2788920"/>
            <a:ext cx="2606040" cy="164592"/>
          </a:xfrm>
          <a:prstGeom prst="rect">
            <a:avLst/>
          </a:prstGeom>
          <a:solidFill>
            <a:srgbClr val="4FC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94360" y="3063240"/>
            <a:ext cx="2331720" cy="274320"/>
          </a:xfrm>
          <a:prstGeom prst="rect">
            <a:avLst/>
          </a:prstGeom>
          <a:noFill/>
        </p:spPr>
        <p:txBody>
          <a:bodyPr wrap="square" anchor="t" lIns="45720" rIns="45720" tIns="0" bIns="0">
            <a:spAutoFit/>
          </a:bodyPr>
          <a:lstStyle/>
          <a:p>
            <a:pPr algn="l"/>
            <a:r>
              <a:rPr sz="1000" b="1">
                <a:solidFill>
                  <a:srgbClr val="4FC3F7"/>
                </a:solidFill>
              </a:rPr>
              <a:t>PHASE 1</a:t>
            </a:r>
          </a:p>
        </p:txBody>
      </p:sp>
      <p:sp>
        <p:nvSpPr>
          <p:cNvPr id="10" name="TextBox 9"/>
          <p:cNvSpPr txBox="1"/>
          <p:nvPr/>
        </p:nvSpPr>
        <p:spPr>
          <a:xfrm>
            <a:off x="594360" y="3319272"/>
            <a:ext cx="2331720" cy="411480"/>
          </a:xfrm>
          <a:prstGeom prst="rect">
            <a:avLst/>
          </a:prstGeom>
          <a:noFill/>
        </p:spPr>
        <p:txBody>
          <a:bodyPr wrap="square" anchor="t" lIns="45720" rIns="45720" tIns="0" bIns="0">
            <a:spAutoFit/>
          </a:bodyPr>
          <a:lstStyle/>
          <a:p>
            <a:pPr algn="l"/>
            <a:r>
              <a:rPr sz="1600" b="1">
                <a:solidFill>
                  <a:srgbClr val="4FC3F7"/>
                </a:solidFill>
              </a:rPr>
              <a:t>Tracking</a:t>
            </a:r>
          </a:p>
        </p:txBody>
      </p:sp>
      <p:sp>
        <p:nvSpPr>
          <p:cNvPr id="11" name="TextBox 10"/>
          <p:cNvSpPr txBox="1"/>
          <p:nvPr/>
        </p:nvSpPr>
        <p:spPr>
          <a:xfrm>
            <a:off x="594360" y="3776472"/>
            <a:ext cx="2331720" cy="1234440"/>
          </a:xfrm>
          <a:prstGeom prst="rect">
            <a:avLst/>
          </a:prstGeom>
          <a:noFill/>
        </p:spPr>
        <p:txBody>
          <a:bodyPr wrap="square" anchor="t" lIns="45720" rIns="45720" tIns="0" bIns="0">
            <a:spAutoFit/>
          </a:bodyPr>
          <a:lstStyle/>
          <a:p>
            <a:pPr algn="l"/>
            <a:r>
              <a:rPr sz="1100" b="0">
                <a:solidFill>
                  <a:srgbClr val="ECEFF4"/>
                </a:solidFill>
              </a:rPr>
              <a:t>YOLO finds people in each frame. OSNet turns each person into a 512-d fingerprint. PersonTracker uses a 3-phase greedy match to keep the same track ID across frames and across clips.</a:t>
            </a:r>
          </a:p>
        </p:txBody>
      </p:sp>
      <p:sp>
        <p:nvSpPr>
          <p:cNvPr id="12" name="Right Arrow 11"/>
          <p:cNvSpPr/>
          <p:nvPr/>
        </p:nvSpPr>
        <p:spPr>
          <a:xfrm>
            <a:off x="3040380" y="3771900"/>
            <a:ext cx="365760" cy="365760"/>
          </a:xfrm>
          <a:prstGeom prst="rightArrow">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46120" y="2788920"/>
            <a:ext cx="2606040" cy="2331720"/>
          </a:xfrm>
          <a:prstGeom prst="rect">
            <a:avLst/>
          </a:prstGeom>
          <a:solidFill>
            <a:srgbClr val="1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246120" y="2788920"/>
            <a:ext cx="2606040" cy="164592"/>
          </a:xfrm>
          <a:prstGeom prst="rect">
            <a:avLst/>
          </a:prstGeom>
          <a:solidFill>
            <a:srgbClr val="81C7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383280" y="3063240"/>
            <a:ext cx="2331720" cy="274320"/>
          </a:xfrm>
          <a:prstGeom prst="rect">
            <a:avLst/>
          </a:prstGeom>
          <a:noFill/>
        </p:spPr>
        <p:txBody>
          <a:bodyPr wrap="square" anchor="t" lIns="45720" rIns="45720" tIns="0" bIns="0">
            <a:spAutoFit/>
          </a:bodyPr>
          <a:lstStyle/>
          <a:p>
            <a:pPr algn="l"/>
            <a:r>
              <a:rPr sz="1000" b="1">
                <a:solidFill>
                  <a:srgbClr val="81C784"/>
                </a:solidFill>
              </a:rPr>
              <a:t>PHASE 2</a:t>
            </a:r>
          </a:p>
        </p:txBody>
      </p:sp>
      <p:sp>
        <p:nvSpPr>
          <p:cNvPr id="16" name="TextBox 15"/>
          <p:cNvSpPr txBox="1"/>
          <p:nvPr/>
        </p:nvSpPr>
        <p:spPr>
          <a:xfrm>
            <a:off x="3383280" y="3319272"/>
            <a:ext cx="2331720" cy="411480"/>
          </a:xfrm>
          <a:prstGeom prst="rect">
            <a:avLst/>
          </a:prstGeom>
          <a:noFill/>
        </p:spPr>
        <p:txBody>
          <a:bodyPr wrap="square" anchor="t" lIns="45720" rIns="45720" tIns="0" bIns="0">
            <a:spAutoFit/>
          </a:bodyPr>
          <a:lstStyle/>
          <a:p>
            <a:pPr algn="l"/>
            <a:r>
              <a:rPr sz="1600" b="1">
                <a:solidFill>
                  <a:srgbClr val="81C784"/>
                </a:solidFill>
              </a:rPr>
              <a:t>Face Capture</a:t>
            </a:r>
          </a:p>
        </p:txBody>
      </p:sp>
      <p:sp>
        <p:nvSpPr>
          <p:cNvPr id="17" name="TextBox 16"/>
          <p:cNvSpPr txBox="1"/>
          <p:nvPr/>
        </p:nvSpPr>
        <p:spPr>
          <a:xfrm>
            <a:off x="3383280" y="3776472"/>
            <a:ext cx="2331720" cy="1234440"/>
          </a:xfrm>
          <a:prstGeom prst="rect">
            <a:avLst/>
          </a:prstGeom>
          <a:noFill/>
        </p:spPr>
        <p:txBody>
          <a:bodyPr wrap="square" anchor="t" lIns="45720" rIns="45720" tIns="0" bIns="0">
            <a:spAutoFit/>
          </a:bodyPr>
          <a:lstStyle/>
          <a:p>
            <a:pPr algn="l"/>
            <a:r>
              <a:rPr sz="1100" b="0">
                <a:solidFill>
                  <a:srgbClr val="ECEFF4"/>
                </a:solidFill>
              </a:rPr>
              <a:t>YOLO-face finds faces inside each tracked person. score_face grades each crop on blur, size, brightness and pose. The best crops are saved as face_*_qNN.jpg, capped per person.</a:t>
            </a:r>
          </a:p>
        </p:txBody>
      </p:sp>
      <p:sp>
        <p:nvSpPr>
          <p:cNvPr id="18" name="Right Arrow 17"/>
          <p:cNvSpPr/>
          <p:nvPr/>
        </p:nvSpPr>
        <p:spPr>
          <a:xfrm>
            <a:off x="5829300" y="3771900"/>
            <a:ext cx="365760" cy="365760"/>
          </a:xfrm>
          <a:prstGeom prst="rightArrow">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35040" y="2788920"/>
            <a:ext cx="2606040" cy="2331720"/>
          </a:xfrm>
          <a:prstGeom prst="rect">
            <a:avLst/>
          </a:prstGeom>
          <a:solidFill>
            <a:srgbClr val="1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035040" y="2788920"/>
            <a:ext cx="2606040" cy="164592"/>
          </a:xfrm>
          <a:prstGeom prst="rect">
            <a:avLst/>
          </a:prstGeom>
          <a:solidFill>
            <a:srgbClr val="CE9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72200" y="3063240"/>
            <a:ext cx="2331720" cy="274320"/>
          </a:xfrm>
          <a:prstGeom prst="rect">
            <a:avLst/>
          </a:prstGeom>
          <a:noFill/>
        </p:spPr>
        <p:txBody>
          <a:bodyPr wrap="square" anchor="t" lIns="45720" rIns="45720" tIns="0" bIns="0">
            <a:spAutoFit/>
          </a:bodyPr>
          <a:lstStyle/>
          <a:p>
            <a:pPr algn="l"/>
            <a:r>
              <a:rPr sz="1000" b="1">
                <a:solidFill>
                  <a:srgbClr val="CE93D8"/>
                </a:solidFill>
              </a:rPr>
              <a:t>PHASE 3</a:t>
            </a:r>
          </a:p>
        </p:txBody>
      </p:sp>
      <p:sp>
        <p:nvSpPr>
          <p:cNvPr id="22" name="TextBox 21"/>
          <p:cNvSpPr txBox="1"/>
          <p:nvPr/>
        </p:nvSpPr>
        <p:spPr>
          <a:xfrm>
            <a:off x="6172200" y="3319272"/>
            <a:ext cx="2331720" cy="411480"/>
          </a:xfrm>
          <a:prstGeom prst="rect">
            <a:avLst/>
          </a:prstGeom>
          <a:noFill/>
        </p:spPr>
        <p:txBody>
          <a:bodyPr wrap="square" anchor="t" lIns="45720" rIns="45720" tIns="0" bIns="0">
            <a:spAutoFit/>
          </a:bodyPr>
          <a:lstStyle/>
          <a:p>
            <a:pPr algn="l"/>
            <a:r>
              <a:rPr sz="1600" b="1">
                <a:solidFill>
                  <a:srgbClr val="CE93D8"/>
                </a:solidFill>
              </a:rPr>
              <a:t>Face Recognition</a:t>
            </a:r>
          </a:p>
        </p:txBody>
      </p:sp>
      <p:sp>
        <p:nvSpPr>
          <p:cNvPr id="23" name="TextBox 22"/>
          <p:cNvSpPr txBox="1"/>
          <p:nvPr/>
        </p:nvSpPr>
        <p:spPr>
          <a:xfrm>
            <a:off x="6172200" y="3776472"/>
            <a:ext cx="2331720" cy="1234440"/>
          </a:xfrm>
          <a:prstGeom prst="rect">
            <a:avLst/>
          </a:prstGeom>
          <a:noFill/>
        </p:spPr>
        <p:txBody>
          <a:bodyPr wrap="square" anchor="t" lIns="45720" rIns="45720" tIns="0" bIns="0">
            <a:spAutoFit/>
          </a:bodyPr>
          <a:lstStyle/>
          <a:p>
            <a:pPr algn="l"/>
            <a:r>
              <a:rPr sz="1100" b="0">
                <a:solidFill>
                  <a:srgbClr val="ECEFF4"/>
                </a:solidFill>
              </a:rPr>
              <a:t>Each saved face passes 3 filters (quality / skin / keypoints). InsightFace embeds the survivors. FAISS matches against the staff registry; unmatched faces are clustered into customers.</a:t>
            </a:r>
          </a:p>
        </p:txBody>
      </p:sp>
      <p:sp>
        <p:nvSpPr>
          <p:cNvPr id="24" name="Right Arrow 23"/>
          <p:cNvSpPr/>
          <p:nvPr/>
        </p:nvSpPr>
        <p:spPr>
          <a:xfrm>
            <a:off x="8618220" y="3771900"/>
            <a:ext cx="365760" cy="365760"/>
          </a:xfrm>
          <a:prstGeom prst="rightArrow">
            <a:avLst/>
          </a:prstGeom>
          <a:solidFill>
            <a:srgbClr val="90A4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23960" y="2788920"/>
            <a:ext cx="2606040" cy="2331720"/>
          </a:xfrm>
          <a:prstGeom prst="rect">
            <a:avLst/>
          </a:prstGeom>
          <a:solidFill>
            <a:srgbClr val="1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823960" y="2788920"/>
            <a:ext cx="2606040" cy="164592"/>
          </a:xfrm>
          <a:prstGeom prst="rect">
            <a:avLst/>
          </a:prstGeom>
          <a:solidFill>
            <a:srgbClr val="FFD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61120" y="3063240"/>
            <a:ext cx="2331720" cy="274320"/>
          </a:xfrm>
          <a:prstGeom prst="rect">
            <a:avLst/>
          </a:prstGeom>
          <a:noFill/>
        </p:spPr>
        <p:txBody>
          <a:bodyPr wrap="square" anchor="t" lIns="45720" rIns="45720" tIns="0" bIns="0">
            <a:spAutoFit/>
          </a:bodyPr>
          <a:lstStyle/>
          <a:p>
            <a:pPr algn="l"/>
            <a:r>
              <a:rPr sz="1000" b="1">
                <a:solidFill>
                  <a:srgbClr val="FFD54F"/>
                </a:solidFill>
              </a:rPr>
              <a:t>PHASE 4</a:t>
            </a:r>
          </a:p>
        </p:txBody>
      </p:sp>
      <p:sp>
        <p:nvSpPr>
          <p:cNvPr id="28" name="TextBox 27"/>
          <p:cNvSpPr txBox="1"/>
          <p:nvPr/>
        </p:nvSpPr>
        <p:spPr>
          <a:xfrm>
            <a:off x="8961120" y="3319272"/>
            <a:ext cx="2331720" cy="411480"/>
          </a:xfrm>
          <a:prstGeom prst="rect">
            <a:avLst/>
          </a:prstGeom>
          <a:noFill/>
        </p:spPr>
        <p:txBody>
          <a:bodyPr wrap="square" anchor="t" lIns="45720" rIns="45720" tIns="0" bIns="0">
            <a:spAutoFit/>
          </a:bodyPr>
          <a:lstStyle/>
          <a:p>
            <a:pPr algn="l"/>
            <a:r>
              <a:rPr sz="1600" b="1">
                <a:solidFill>
                  <a:srgbClr val="FFD54F"/>
                </a:solidFill>
              </a:rPr>
              <a:t>Reporting</a:t>
            </a:r>
          </a:p>
        </p:txBody>
      </p:sp>
      <p:sp>
        <p:nvSpPr>
          <p:cNvPr id="29" name="TextBox 28"/>
          <p:cNvSpPr txBox="1"/>
          <p:nvPr/>
        </p:nvSpPr>
        <p:spPr>
          <a:xfrm>
            <a:off x="8961120" y="3776472"/>
            <a:ext cx="2331720" cy="1234440"/>
          </a:xfrm>
          <a:prstGeom prst="rect">
            <a:avLst/>
          </a:prstGeom>
          <a:noFill/>
        </p:spPr>
        <p:txBody>
          <a:bodyPr wrap="square" anchor="t" lIns="45720" rIns="45720" tIns="0" bIns="0">
            <a:spAutoFit/>
          </a:bodyPr>
          <a:lstStyle/>
          <a:p>
            <a:pPr algn="l"/>
            <a:r>
              <a:rPr sz="1100" b="0">
                <a:solidFill>
                  <a:srgbClr val="ECEFF4"/>
                </a:solidFill>
              </a:rPr>
              <a:t>Per-person results are written to state.json after every clip. At the end of the day, a 6-sheet Excel report with thumbnails is written to data/&lt;date&gt;/report/.</a:t>
            </a:r>
          </a:p>
        </p:txBody>
      </p:sp>
      <p:sp>
        <p:nvSpPr>
          <p:cNvPr id="30" name="Rectangle 29"/>
          <p:cNvSpPr/>
          <p:nvPr/>
        </p:nvSpPr>
        <p:spPr>
          <a:xfrm>
            <a:off x="457200" y="5349240"/>
            <a:ext cx="11247120" cy="502920"/>
          </a:xfrm>
          <a:prstGeom prst="rect">
            <a:avLst/>
          </a:prstGeom>
          <a:solidFill>
            <a:srgbClr val="1B3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7200" y="5349240"/>
            <a:ext cx="11247120" cy="502920"/>
          </a:xfrm>
          <a:prstGeom prst="rect">
            <a:avLst/>
          </a:prstGeom>
          <a:noFill/>
        </p:spPr>
        <p:txBody>
          <a:bodyPr wrap="square" anchor="ctr" lIns="45720" rIns="45720" tIns="0" bIns="0">
            <a:spAutoFit/>
          </a:bodyPr>
          <a:lstStyle/>
          <a:p>
            <a:pPr algn="ctr"/>
            <a:r>
              <a:rPr sz="1200" b="1">
                <a:solidFill>
                  <a:srgbClr val="ECEFF4"/>
                </a:solidFill>
              </a:rPr>
              <a:t>OUTPUT   ·   data/&lt;date&gt;/report/fr_report_&lt;date&gt;.xlsx   +   state.json (crash-safe, written after every clip)</a:t>
            </a:r>
          </a:p>
        </p:txBody>
      </p:sp>
      <p:sp>
        <p:nvSpPr>
          <p:cNvPr id="32" name="TextBox 31"/>
          <p:cNvSpPr txBox="1"/>
          <p:nvPr/>
        </p:nvSpPr>
        <p:spPr>
          <a:xfrm>
            <a:off x="457200" y="5989320"/>
            <a:ext cx="11247120" cy="320040"/>
          </a:xfrm>
          <a:prstGeom prst="rect">
            <a:avLst/>
          </a:prstGeom>
          <a:noFill/>
        </p:spPr>
        <p:txBody>
          <a:bodyPr wrap="square" anchor="t" lIns="45720" rIns="45720" tIns="0" bIns="0">
            <a:spAutoFit/>
          </a:bodyPr>
          <a:lstStyle/>
          <a:p>
            <a:pPr algn="ctr"/>
            <a:r>
              <a:rPr sz="1100" b="0">
                <a:solidFill>
                  <a:srgbClr val="81D4FA"/>
                </a:solidFill>
              </a:rPr>
              <a:t>Everything below the input runs on the local machine. No cloud calls. Models: YOLO11 (person + face), OSNet ReID, InsightFace antelopev2, FAISS IndexFlatIP.</a:t>
            </a:r>
          </a:p>
        </p:txBody>
      </p:sp>
      <p:sp>
        <p:nvSpPr>
          <p:cNvPr id="33" name="TextBox 32"/>
          <p:cNvSpPr txBox="1"/>
          <p:nvPr/>
        </p:nvSpPr>
        <p:spPr>
          <a:xfrm>
            <a:off x="457200" y="6446520"/>
            <a:ext cx="1828800" cy="274320"/>
          </a:xfrm>
          <a:prstGeom prst="rect">
            <a:avLst/>
          </a:prstGeom>
          <a:noFill/>
        </p:spPr>
        <p:txBody>
          <a:bodyPr wrap="square" anchor="t" lIns="45720" rIns="45720" tIns="0" bIns="0">
            <a:spAutoFit/>
          </a:bodyPr>
          <a:lstStyle/>
          <a:p>
            <a:pPr algn="l"/>
            <a:r>
              <a:rPr sz="1100" b="0">
                <a:solidFill>
                  <a:srgbClr val="90A4AE"/>
                </a:solidFill>
              </a:rPr>
              <a:t>4 / 10</a:t>
            </a:r>
          </a:p>
        </p:txBody>
      </p:sp>
      <p:sp>
        <p:nvSpPr>
          <p:cNvPr id="34" name="Rectangle 33"/>
          <p:cNvSpPr/>
          <p:nvPr/>
        </p:nvSpPr>
        <p:spPr>
          <a:xfrm>
            <a:off x="8531352" y="6400800"/>
            <a:ext cx="1005840" cy="365760"/>
          </a:xfrm>
          <a:prstGeom prst="rect">
            <a:avLst/>
          </a:prstGeom>
          <a:solidFill>
            <a:srgbClr val="22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531352" y="6400800"/>
            <a:ext cx="1005840" cy="365760"/>
          </a:xfrm>
          <a:prstGeom prst="rect">
            <a:avLst/>
          </a:prstGeom>
          <a:noFill/>
        </p:spPr>
        <p:txBody>
          <a:bodyPr wrap="square" anchor="ctr" lIns="45720" rIns="45720" tIns="0" bIns="0">
            <a:spAutoFit/>
          </a:bodyPr>
          <a:lstStyle/>
          <a:p>
            <a:pPr algn="ctr"/>
            <a:r>
              <a:rPr sz="1100" b="1">
                <a:solidFill>
                  <a:srgbClr val="4FC3F7"/>
                </a:solidFill>
              </a:rPr>
              <a:t>◀  Prev</a:t>
            </a:r>
          </a:p>
        </p:txBody>
      </p:sp>
      <p:sp>
        <p:nvSpPr>
          <p:cNvPr id="36" name="Rectangle 35"/>
          <p:cNvSpPr/>
          <p:nvPr/>
        </p:nvSpPr>
        <p:spPr>
          <a:xfrm>
            <a:off x="9674352" y="6400800"/>
            <a:ext cx="1005840" cy="365760"/>
          </a:xfrm>
          <a:prstGeom prst="rect">
            <a:avLst/>
          </a:prstGeom>
          <a:solidFill>
            <a:srgbClr val="22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674352" y="6400800"/>
            <a:ext cx="1005840" cy="365760"/>
          </a:xfrm>
          <a:prstGeom prst="rect">
            <a:avLst/>
          </a:prstGeom>
          <a:noFill/>
        </p:spPr>
        <p:txBody>
          <a:bodyPr wrap="square" anchor="ctr" lIns="45720" rIns="45720" tIns="0" bIns="0">
            <a:spAutoFit/>
          </a:bodyPr>
          <a:lstStyle/>
          <a:p>
            <a:pPr algn="ctr"/>
            <a:r>
              <a:rPr sz="1100" b="1">
                <a:solidFill>
                  <a:srgbClr val="FFD54F"/>
                </a:solidFill>
              </a:rPr>
              <a:t>⌂  Home</a:t>
            </a:r>
          </a:p>
        </p:txBody>
      </p:sp>
      <p:sp>
        <p:nvSpPr>
          <p:cNvPr id="38" name="Rectangle 37"/>
          <p:cNvSpPr/>
          <p:nvPr/>
        </p:nvSpPr>
        <p:spPr>
          <a:xfrm>
            <a:off x="10817352" y="6400800"/>
            <a:ext cx="1005840" cy="365760"/>
          </a:xfrm>
          <a:prstGeom prst="rect">
            <a:avLst/>
          </a:prstGeom>
          <a:solidFill>
            <a:srgbClr val="22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817352" y="6400800"/>
            <a:ext cx="1005840" cy="365760"/>
          </a:xfrm>
          <a:prstGeom prst="rect">
            <a:avLst/>
          </a:prstGeom>
          <a:noFill/>
        </p:spPr>
        <p:txBody>
          <a:bodyPr wrap="square" anchor="ctr" lIns="45720" rIns="45720" tIns="0" bIns="0">
            <a:spAutoFit/>
          </a:bodyPr>
          <a:lstStyle/>
          <a:p>
            <a:pPr algn="ctr"/>
            <a:r>
              <a:rPr sz="1100" b="1">
                <a:solidFill>
                  <a:srgbClr val="4FC3F7"/>
                </a:solidFill>
              </a:rPr>
              <a:t>Next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1568</Words>
  <Application>Microsoft Office PowerPoint</Application>
  <PresentationFormat>Widescreen</PresentationFormat>
  <Paragraphs>170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Hari Pratap</cp:lastModifiedBy>
  <cp:revision>3</cp:revision>
  <dcterms:created xsi:type="dcterms:W3CDTF">2013-01-27T09:14:16Z</dcterms:created>
  <dcterms:modified xsi:type="dcterms:W3CDTF">2026-05-05T10:11:14Z</dcterms:modified>
  <cp:category/>
</cp:coreProperties>
</file>